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24384000" cy="13716000"/>
  <p:notesSz cx="6858000" cy="9144000"/>
  <p:embeddedFontLst>
    <p:embeddedFont>
      <p:font typeface="Cinzel Bold"/>
      <p:bold r:id="rId22"/>
    </p:embeddedFont>
    <p:embeddedFont>
      <p:font typeface="Pretendard SemiBold"/>
      <p:bold r:id="rId23"/>
    </p:embeddedFont>
    <p:embeddedFont>
      <p:font typeface="Space Grotesk Medium"/>
      <p:bold r:id="rId24"/>
    </p:embeddedFont>
    <p:embeddedFont>
      <p:font typeface="Space Grotesk Regular"/>
      <p:regular r:id="rId25"/>
    </p:embeddedFont>
    <p:embeddedFont>
      <p:font typeface="Space Grotesk Light"/>
      <p:regular r:id="rId26"/>
    </p:embeddedFont>
    <p:embeddedFont>
      <p:font typeface="Inter Light"/>
      <p:regular r:id="rId27"/>
    </p:embeddedFont>
    <p:embeddedFont>
      <p:font typeface="Inter Bold"/>
      <p:bold r:id="rId28"/>
    </p:embeddedFont>
    <p:embeddedFont>
      <p:font typeface="Inter Black"/>
      <p:bold r:id="rId29"/>
    </p:embeddedFont>
    <p:embeddedFont>
      <p:font typeface="Inter SemiBold"/>
      <p:bold r:id="rId30"/>
    </p:embeddedFont>
    <p:embeddedFont>
      <p:font typeface="Inter ExtraBold"/>
      <p:bold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1.fntdata" Type="http://schemas.openxmlformats.org/officeDocument/2006/relationships/font"/><Relationship Id="rId23" Target="fonts/font2.fntdata" Type="http://schemas.openxmlformats.org/officeDocument/2006/relationships/font"/><Relationship Id="rId24" Target="fonts/font3.fntdata" Type="http://schemas.openxmlformats.org/officeDocument/2006/relationships/font"/><Relationship Id="rId25" Target="fonts/font4.fntdata" Type="http://schemas.openxmlformats.org/officeDocument/2006/relationships/font"/><Relationship Id="rId26" Target="fonts/font5.fntdata" Type="http://schemas.openxmlformats.org/officeDocument/2006/relationships/font"/><Relationship Id="rId27" Target="fonts/font6.fntdata" Type="http://schemas.openxmlformats.org/officeDocument/2006/relationships/font"/><Relationship Id="rId28" Target="fonts/font7.fntdata" Type="http://schemas.openxmlformats.org/officeDocument/2006/relationships/font"/><Relationship Id="rId29" Target="fonts/font8.fntdata" Type="http://schemas.openxmlformats.org/officeDocument/2006/relationships/font"/><Relationship Id="rId3" Target="viewProps.xml" Type="http://schemas.openxmlformats.org/officeDocument/2006/relationships/viewProps"/><Relationship Id="rId30" Target="fonts/font9.fntdata" Type="http://schemas.openxmlformats.org/officeDocument/2006/relationships/font"/><Relationship Id="rId31" Target="fonts/font1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png" Type="http://schemas.openxmlformats.org/officeDocument/2006/relationships/image"/><Relationship Id="rId12" Target="../media/image41.png" Type="http://schemas.openxmlformats.org/officeDocument/2006/relationships/image"/><Relationship Id="rId13" Target="../media/image42.png" Type="http://schemas.openxmlformats.org/officeDocument/2006/relationships/image"/><Relationship Id="rId14" Target="../media/image43.png" Type="http://schemas.openxmlformats.org/officeDocument/2006/relationships/image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png" Type="http://schemas.openxmlformats.org/officeDocument/2006/relationships/image"/><Relationship Id="rId4" Target="../media/image46.png" Type="http://schemas.openxmlformats.org/officeDocument/2006/relationships/image"/><Relationship Id="rId5" Target="../media/image47.png" Type="http://schemas.openxmlformats.org/officeDocument/2006/relationships/image"/><Relationship Id="rId6" Target="../media/image48.png" Type="http://schemas.openxmlformats.org/officeDocument/2006/relationships/image"/><Relationship Id="rId7" Target="../media/image4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50.png" Type="http://schemas.openxmlformats.org/officeDocument/2006/relationships/image"/><Relationship Id="rId4" Target="../media/image51.png" Type="http://schemas.openxmlformats.org/officeDocument/2006/relationships/image"/><Relationship Id="rId5" Target="../media/image52.png" Type="http://schemas.openxmlformats.org/officeDocument/2006/relationships/image"/><Relationship Id="rId6" Target="../media/image5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63.png" Type="http://schemas.openxmlformats.org/officeDocument/2006/relationships/image"/><Relationship Id="rId12" Target="../media/image64.png" Type="http://schemas.openxmlformats.org/officeDocument/2006/relationships/image"/><Relationship Id="rId2" Target="../media/image54.png" Type="http://schemas.openxmlformats.org/officeDocument/2006/relationships/image"/><Relationship Id="rId3" Target="../media/image55.png" Type="http://schemas.openxmlformats.org/officeDocument/2006/relationships/image"/><Relationship Id="rId4" Target="../media/image56.png" Type="http://schemas.openxmlformats.org/officeDocument/2006/relationships/image"/><Relationship Id="rId5" Target="../media/image57.png" Type="http://schemas.openxmlformats.org/officeDocument/2006/relationships/image"/><Relationship Id="rId6" Target="../media/image58.png" Type="http://schemas.openxmlformats.org/officeDocument/2006/relationships/image"/><Relationship Id="rId7" Target="../media/image59.png" Type="http://schemas.openxmlformats.org/officeDocument/2006/relationships/image"/><Relationship Id="rId8" Target="../media/image60.pn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2.png" Type="http://schemas.openxmlformats.org/officeDocument/2006/relationships/image"/><Relationship Id="rId11" Target="../media/image73.png" Type="http://schemas.openxmlformats.org/officeDocument/2006/relationships/image"/><Relationship Id="rId12" Target="../media/image74.png" Type="http://schemas.openxmlformats.org/officeDocument/2006/relationships/image"/><Relationship Id="rId13" Target="../media/image75.png" Type="http://schemas.openxmlformats.org/officeDocument/2006/relationships/image"/><Relationship Id="rId14" Target="../media/image76.png" Type="http://schemas.openxmlformats.org/officeDocument/2006/relationships/image"/><Relationship Id="rId15" Target="../media/image77.png" Type="http://schemas.openxmlformats.org/officeDocument/2006/relationships/image"/><Relationship Id="rId2" Target="../media/image17.png" Type="http://schemas.openxmlformats.org/officeDocument/2006/relationships/image"/><Relationship Id="rId3" Target="../media/image65.png" Type="http://schemas.openxmlformats.org/officeDocument/2006/relationships/image"/><Relationship Id="rId4" Target="../media/image66.png" Type="http://schemas.openxmlformats.org/officeDocument/2006/relationships/image"/><Relationship Id="rId5" Target="../media/image67.png" Type="http://schemas.openxmlformats.org/officeDocument/2006/relationships/image"/><Relationship Id="rId6" Target="../media/image68.png" Type="http://schemas.openxmlformats.org/officeDocument/2006/relationships/image"/><Relationship Id="rId7" Target="../media/image69.png" Type="http://schemas.openxmlformats.org/officeDocument/2006/relationships/image"/><Relationship Id="rId8" Target="../media/image70.png" Type="http://schemas.openxmlformats.org/officeDocument/2006/relationships/image"/><Relationship Id="rId9" Target="../media/image7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4.png" Type="http://schemas.openxmlformats.org/officeDocument/2006/relationships/image"/><Relationship Id="rId11" Target="../media/image85.png" Type="http://schemas.openxmlformats.org/officeDocument/2006/relationships/image"/><Relationship Id="rId12" Target="../media/image86.png" Type="http://schemas.openxmlformats.org/officeDocument/2006/relationships/image"/><Relationship Id="rId13" Target="../media/image87.png" Type="http://schemas.openxmlformats.org/officeDocument/2006/relationships/image"/><Relationship Id="rId14" Target="../media/image88.png" Type="http://schemas.openxmlformats.org/officeDocument/2006/relationships/image"/><Relationship Id="rId15" Target="../media/image89.png" Type="http://schemas.openxmlformats.org/officeDocument/2006/relationships/image"/><Relationship Id="rId16" Target="../media/image90.png" Type="http://schemas.openxmlformats.org/officeDocument/2006/relationships/image"/><Relationship Id="rId17" Target="../media/image91.png" Type="http://schemas.openxmlformats.org/officeDocument/2006/relationships/image"/><Relationship Id="rId18" Target="../media/image92.png" Type="http://schemas.openxmlformats.org/officeDocument/2006/relationships/image"/><Relationship Id="rId19" Target="../media/image93.png" Type="http://schemas.openxmlformats.org/officeDocument/2006/relationships/image"/><Relationship Id="rId2" Target="../media/image9.png" Type="http://schemas.openxmlformats.org/officeDocument/2006/relationships/image"/><Relationship Id="rId20" Target="../media/image94.png" Type="http://schemas.openxmlformats.org/officeDocument/2006/relationships/image"/><Relationship Id="rId3" Target="../media/image78.png" Type="http://schemas.openxmlformats.org/officeDocument/2006/relationships/image"/><Relationship Id="rId4" Target="../media/image79.png" Type="http://schemas.openxmlformats.org/officeDocument/2006/relationships/image"/><Relationship Id="rId5" Target="../media/image32.png" Type="http://schemas.openxmlformats.org/officeDocument/2006/relationships/image"/><Relationship Id="rId6" Target="../media/image80.png" Type="http://schemas.openxmlformats.org/officeDocument/2006/relationships/image"/><Relationship Id="rId7" Target="../media/image81.png" Type="http://schemas.openxmlformats.org/officeDocument/2006/relationships/image"/><Relationship Id="rId8" Target="../media/image82.png" Type="http://schemas.openxmlformats.org/officeDocument/2006/relationships/image"/><Relationship Id="rId9" Target="../media/image8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95.png" Type="http://schemas.openxmlformats.org/officeDocument/2006/relationships/image"/><Relationship Id="rId4" Target="../media/image96.png" Type="http://schemas.openxmlformats.org/officeDocument/2006/relationships/image"/><Relationship Id="rId5" Target="../media/image9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98.png" Type="http://schemas.openxmlformats.org/officeDocument/2006/relationships/image"/><Relationship Id="rId4" Target="../media/image99.png" Type="http://schemas.openxmlformats.org/officeDocument/2006/relationships/image"/><Relationship Id="rId5" Target="../media/image100.png" Type="http://schemas.openxmlformats.org/officeDocument/2006/relationships/image"/><Relationship Id="rId6" Target="../media/image101.png" Type="http://schemas.openxmlformats.org/officeDocument/2006/relationships/image"/><Relationship Id="rId7" Target="../media/image10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0.png" Type="http://schemas.openxmlformats.org/officeDocument/2006/relationships/image"/><Relationship Id="rId11" Target="../media/image111.png" Type="http://schemas.openxmlformats.org/officeDocument/2006/relationships/image"/><Relationship Id="rId2" Target="../media/image9.png" Type="http://schemas.openxmlformats.org/officeDocument/2006/relationships/image"/><Relationship Id="rId3" Target="../media/image103.png" Type="http://schemas.openxmlformats.org/officeDocument/2006/relationships/image"/><Relationship Id="rId4" Target="../media/image104.png" Type="http://schemas.openxmlformats.org/officeDocument/2006/relationships/image"/><Relationship Id="rId5" Target="../media/image105.png" Type="http://schemas.openxmlformats.org/officeDocument/2006/relationships/image"/><Relationship Id="rId6" Target="../media/image106.png" Type="http://schemas.openxmlformats.org/officeDocument/2006/relationships/image"/><Relationship Id="rId7" Target="../media/image107.png" Type="http://schemas.openxmlformats.org/officeDocument/2006/relationships/image"/><Relationship Id="rId8" Target="../media/image108.png" Type="http://schemas.openxmlformats.org/officeDocument/2006/relationships/image"/><Relationship Id="rId9" Target="../media/image10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9.png" Type="http://schemas.openxmlformats.org/officeDocument/2006/relationships/image"/><Relationship Id="rId11" Target="../media/image120.png" Type="http://schemas.openxmlformats.org/officeDocument/2006/relationships/image"/><Relationship Id="rId12" Target="../media/image121.png" Type="http://schemas.openxmlformats.org/officeDocument/2006/relationships/image"/><Relationship Id="rId13" Target="../media/image122.png" Type="http://schemas.openxmlformats.org/officeDocument/2006/relationships/image"/><Relationship Id="rId14" Target="../media/image123.png" Type="http://schemas.openxmlformats.org/officeDocument/2006/relationships/image"/><Relationship Id="rId15" Target="../media/image124.png" Type="http://schemas.openxmlformats.org/officeDocument/2006/relationships/image"/><Relationship Id="rId16" Target="../media/image125.png" Type="http://schemas.openxmlformats.org/officeDocument/2006/relationships/image"/><Relationship Id="rId17" Target="../media/image126.png" Type="http://schemas.openxmlformats.org/officeDocument/2006/relationships/image"/><Relationship Id="rId18" Target="../media/image127.png" Type="http://schemas.openxmlformats.org/officeDocument/2006/relationships/image"/><Relationship Id="rId19" Target="../media/image128.png" Type="http://schemas.openxmlformats.org/officeDocument/2006/relationships/image"/><Relationship Id="rId2" Target="../media/image17.png" Type="http://schemas.openxmlformats.org/officeDocument/2006/relationships/image"/><Relationship Id="rId20" Target="../media/image129.png" Type="http://schemas.openxmlformats.org/officeDocument/2006/relationships/image"/><Relationship Id="rId3" Target="../media/image112.png" Type="http://schemas.openxmlformats.org/officeDocument/2006/relationships/image"/><Relationship Id="rId4" Target="../media/image113.png" Type="http://schemas.openxmlformats.org/officeDocument/2006/relationships/image"/><Relationship Id="rId5" Target="../media/image114.png" Type="http://schemas.openxmlformats.org/officeDocument/2006/relationships/image"/><Relationship Id="rId6" Target="../media/image115.png" Type="http://schemas.openxmlformats.org/officeDocument/2006/relationships/image"/><Relationship Id="rId7" Target="../media/image116.png" Type="http://schemas.openxmlformats.org/officeDocument/2006/relationships/image"/><Relationship Id="rId8" Target="../media/image117.png" Type="http://schemas.openxmlformats.org/officeDocument/2006/relationships/image"/><Relationship Id="rId9" Target="../media/image1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7.png" Type="http://schemas.openxmlformats.org/officeDocument/2006/relationships/image"/><Relationship Id="rId11" Target="../media/image138.png" Type="http://schemas.openxmlformats.org/officeDocument/2006/relationships/image"/><Relationship Id="rId12" Target="../media/image139.png" Type="http://schemas.openxmlformats.org/officeDocument/2006/relationships/image"/><Relationship Id="rId13" Target="../media/image140.png" Type="http://schemas.openxmlformats.org/officeDocument/2006/relationships/image"/><Relationship Id="rId14" Target="../media/image141.png" Type="http://schemas.openxmlformats.org/officeDocument/2006/relationships/image"/><Relationship Id="rId15" Target="../media/image142.png" Type="http://schemas.openxmlformats.org/officeDocument/2006/relationships/image"/><Relationship Id="rId2" Target="../media/image9.png" Type="http://schemas.openxmlformats.org/officeDocument/2006/relationships/image"/><Relationship Id="rId3" Target="../media/image130.png" Type="http://schemas.openxmlformats.org/officeDocument/2006/relationships/image"/><Relationship Id="rId4" Target="../media/image131.png" Type="http://schemas.openxmlformats.org/officeDocument/2006/relationships/image"/><Relationship Id="rId5" Target="../media/image132.png" Type="http://schemas.openxmlformats.org/officeDocument/2006/relationships/image"/><Relationship Id="rId6" Target="../media/image133.png" Type="http://schemas.openxmlformats.org/officeDocument/2006/relationships/image"/><Relationship Id="rId7" Target="../media/image134.png" Type="http://schemas.openxmlformats.org/officeDocument/2006/relationships/image"/><Relationship Id="rId8" Target="../media/image135.png" Type="http://schemas.openxmlformats.org/officeDocument/2006/relationships/image"/><Relationship Id="rId9" Target="../media/image13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1.png" Type="http://schemas.openxmlformats.org/officeDocument/2006/relationships/image"/><Relationship Id="rId11" Target="../media/image152.png" Type="http://schemas.openxmlformats.org/officeDocument/2006/relationships/image"/><Relationship Id="rId12" Target="../media/image153.png" Type="http://schemas.openxmlformats.org/officeDocument/2006/relationships/image"/><Relationship Id="rId2" Target="../media/image143.png" Type="http://schemas.openxmlformats.org/officeDocument/2006/relationships/image"/><Relationship Id="rId3" Target="../media/image144.png" Type="http://schemas.openxmlformats.org/officeDocument/2006/relationships/image"/><Relationship Id="rId4" Target="../media/image145.png" Type="http://schemas.openxmlformats.org/officeDocument/2006/relationships/image"/><Relationship Id="rId5" Target="../media/image146.png" Type="http://schemas.openxmlformats.org/officeDocument/2006/relationships/image"/><Relationship Id="rId6" Target="../media/image147.png" Type="http://schemas.openxmlformats.org/officeDocument/2006/relationships/image"/><Relationship Id="rId7" Target="../media/image148.png" Type="http://schemas.openxmlformats.org/officeDocument/2006/relationships/image"/><Relationship Id="rId8" Target="../media/image149.png" Type="http://schemas.openxmlformats.org/officeDocument/2006/relationships/image"/><Relationship Id="rId9" Target="../media/image15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4E5EB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89000" y="736600"/>
            <a:ext cx="22606000" cy="3695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7112000" y="-3556000"/>
            <a:ext cx="10172700" cy="22631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33600" y="1765300"/>
            <a:ext cx="2908300" cy="2908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895600" y="2590800"/>
            <a:ext cx="1295400" cy="128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907000" y="4241800"/>
            <a:ext cx="3810000" cy="8089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 rot="0">
            <a:off x="17487900" y="9893300"/>
            <a:ext cx="2540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1463000" y="8585200"/>
            <a:ext cx="1117600" cy="1308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830800" y="8851900"/>
            <a:ext cx="381000" cy="3810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2463800" y="8102600"/>
            <a:ext cx="13208000" cy="952500"/>
          </a:xfrm>
          <a:prstGeom prst="rect">
            <a:avLst/>
          </a:prstGeom>
        </p:spPr>
        <p:txBody>
          <a:bodyPr anchor="ctr" rtlCol="false" lIns="0" tIns="67732" rIns="0" bIns="67732"/>
          <a:lstStyle/>
          <a:p>
            <a:pPr algn="l" lvl="0">
              <a:lnSpc>
                <a:spcPct val="99600"/>
              </a:lnSpc>
            </a:pPr>
            <a:r>
              <a:rPr lang="en-US" sz="5333" b="false" i="false" u="none" strike="noStrike" cap="all">
                <a:solidFill>
                  <a:srgbClr val="242424"/>
                </a:solidFill>
                <a:latin typeface="Pretendard SemiBold"/>
                <a:ea typeface="Pretendard SemiBold"/>
                <a:cs typeface="Pretendard SemiBold"/>
              </a:rPr>
              <a:t>Simple templates for any length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49500" y="5778500"/>
            <a:ext cx="14541500" cy="2641600"/>
          </a:xfrm>
          <a:prstGeom prst="rect">
            <a:avLst/>
          </a:prstGeom>
        </p:spPr>
        <p:txBody>
          <a:bodyPr anchor="t" rtlCol="false" lIns="0" tIns="188656" rIns="0" bIns="0"/>
          <a:lstStyle/>
          <a:p>
            <a:pPr algn="l" lvl="0">
              <a:lnSpc>
                <a:spcPct val="99600"/>
              </a:lnSpc>
            </a:pPr>
            <a:r>
              <a:rPr lang="en-US" sz="14854" b="false" i="false" u="none" strike="noStrike" spc="-200">
                <a:solidFill>
                  <a:srgbClr val="242424"/>
                </a:solidFill>
                <a:latin typeface="Cinzel Bold"/>
                <a:ea typeface="Cinzel Bold"/>
                <a:cs typeface="Cinzel Bold"/>
              </a:rPr>
              <a:t>Presentation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088100" y="2921000"/>
            <a:ext cx="3581400" cy="431800"/>
          </a:xfrm>
          <a:prstGeom prst="rect">
            <a:avLst/>
          </a:prstGeom>
        </p:spPr>
        <p:txBody>
          <a:bodyPr anchor="t" rtlCol="false" lIns="0" tIns="30479" rIns="0" bIns="0"/>
          <a:lstStyle/>
          <a:p>
            <a:pPr algn="ctr" lvl="0">
              <a:lnSpc>
                <a:spcPct val="99600"/>
              </a:lnSpc>
            </a:pPr>
            <a:r>
              <a:rPr lang="en-US" sz="2399" b="false" i="false" u="none" strike="noStrike">
                <a:solidFill>
                  <a:srgbClr val="242424"/>
                </a:solidFill>
                <a:latin typeface="Cinzel Bold"/>
                <a:ea typeface="Cinzel Bold"/>
                <a:cs typeface="Cinzel Bold"/>
              </a:rPr>
              <a:t>your Company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51100" y="11760200"/>
            <a:ext cx="4965700" cy="431800"/>
          </a:xfrm>
          <a:prstGeom prst="rect">
            <a:avLst/>
          </a:prstGeom>
        </p:spPr>
        <p:txBody>
          <a:bodyPr anchor="t" rtlCol="false" lIns="0" tIns="15240" rIns="0" bIns="0"/>
          <a:lstStyle/>
          <a:p>
            <a:pPr algn="l" lvl="0">
              <a:lnSpc>
                <a:spcPct val="107899"/>
              </a:lnSpc>
            </a:pPr>
            <a:r>
              <a:rPr lang="en-US" sz="2399" b="false" i="false" u="none" strike="noStrike">
                <a:solidFill>
                  <a:srgbClr val="242424"/>
                </a:solidFill>
                <a:latin typeface="Cinzel Bold"/>
                <a:ea typeface="Cinzel Bold"/>
                <a:cs typeface="Cinzel Bold"/>
              </a:rPr>
              <a:t>yourcompany.com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 rot="0">
            <a:off x="1993900" y="5994400"/>
            <a:ext cx="7924800" cy="673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979400" y="2184400"/>
            <a:ext cx="1308100" cy="1308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979400" y="4457700"/>
            <a:ext cx="1308100" cy="1308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979400" y="6731000"/>
            <a:ext cx="1308100" cy="1308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979400" y="8991600"/>
            <a:ext cx="1308100" cy="1308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979400" y="11264900"/>
            <a:ext cx="1308100" cy="130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2923500" y="0"/>
            <a:ext cx="7366000" cy="69850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371600" y="1866900"/>
            <a:ext cx="9258300" cy="2374900"/>
          </a:xfrm>
          <a:prstGeom prst="rect">
            <a:avLst/>
          </a:prstGeom>
        </p:spPr>
        <p:txBody>
          <a:bodyPr anchor="t" rtlCol="false" lIns="0" tIns="169333" rIns="0" bIns="0"/>
          <a:lstStyle/>
          <a:p>
            <a:pPr algn="l" lvl="0">
              <a:lnSpc>
                <a:spcPct val="99600"/>
              </a:lnSpc>
            </a:pPr>
            <a:r>
              <a:rPr lang="en-US" sz="13333" b="false" i="false" u="none" strike="noStrike">
                <a:solidFill>
                  <a:srgbClr val="FFFFFF"/>
                </a:solidFill>
                <a:latin typeface="Space Grotesk Regular"/>
                <a:ea typeface="Space Grotesk Regular"/>
                <a:cs typeface="Space Grotesk Regular"/>
              </a:rPr>
              <a:t>AGENDA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71600" y="4178300"/>
            <a:ext cx="84074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</a:rPr>
              <a:t>Our roadmap from technical validation to commercial scalability.
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55600" y="2362200"/>
            <a:ext cx="1155700" cy="952500"/>
          </a:xfrm>
          <a:prstGeom prst="rect">
            <a:avLst/>
          </a:prstGeom>
        </p:spPr>
        <p:txBody>
          <a:bodyPr anchor="t" rtlCol="false" lIns="0" tIns="135467" rIns="0" bIns="0"/>
          <a:lstStyle/>
          <a:p>
            <a:pPr algn="ctr" lvl="0">
              <a:lnSpc>
                <a:spcPct val="83000"/>
              </a:lnSpc>
            </a:pPr>
            <a:r>
              <a:rPr lang="en-US" sz="5333" b="false" i="false" u="none" strike="noStrik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024100" y="2717800"/>
            <a:ext cx="82042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Addressing the urgent need for scalable catalyst production.
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024100" y="2108200"/>
            <a:ext cx="50292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99" b="false" i="false" u="none" strike="noStrik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</a:rPr>
              <a:t>Market Challenge
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055600" y="4635500"/>
            <a:ext cx="1155700" cy="952500"/>
          </a:xfrm>
          <a:prstGeom prst="rect">
            <a:avLst/>
          </a:prstGeom>
        </p:spPr>
        <p:txBody>
          <a:bodyPr anchor="t" rtlCol="false" lIns="0" tIns="135467" rIns="0" bIns="0"/>
          <a:lstStyle/>
          <a:p>
            <a:pPr algn="ctr" lvl="0">
              <a:lnSpc>
                <a:spcPct val="83000"/>
              </a:lnSpc>
            </a:pPr>
            <a:r>
              <a:rPr lang="en-US" sz="5333" b="false" i="false" u="none" strike="noStrik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024100" y="4991100"/>
            <a:ext cx="82042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Proprietary technology ensuring high reproducibility and yield.
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024100" y="4368800"/>
            <a:ext cx="50292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99" b="false" i="false" u="none" strike="noStrik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</a:rPr>
              <a:t>Our Solution
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55600" y="6908800"/>
            <a:ext cx="1155700" cy="952500"/>
          </a:xfrm>
          <a:prstGeom prst="rect">
            <a:avLst/>
          </a:prstGeom>
        </p:spPr>
        <p:txBody>
          <a:bodyPr anchor="t" rtlCol="false" lIns="0" tIns="135467" rIns="0" bIns="0"/>
          <a:lstStyle/>
          <a:p>
            <a:pPr algn="ctr" lvl="0">
              <a:lnSpc>
                <a:spcPct val="83000"/>
              </a:lnSpc>
            </a:pPr>
            <a:r>
              <a:rPr lang="en-US" sz="5333" b="false" i="false" u="none" strike="noStrik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024100" y="7264400"/>
            <a:ext cx="82042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Data validating superior efficiency and operational stability.
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024100" y="6642100"/>
            <a:ext cx="50292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99" b="false" i="false" u="none" strike="noStrik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</a:rPr>
              <a:t>Performance Proof
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055600" y="9169400"/>
            <a:ext cx="1155700" cy="952500"/>
          </a:xfrm>
          <a:prstGeom prst="rect">
            <a:avLst/>
          </a:prstGeom>
        </p:spPr>
        <p:txBody>
          <a:bodyPr anchor="t" rtlCol="false" lIns="0" tIns="135467" rIns="0" bIns="0"/>
          <a:lstStyle/>
          <a:p>
            <a:pPr algn="ctr" lvl="0">
              <a:lnSpc>
                <a:spcPct val="83000"/>
              </a:lnSpc>
            </a:pPr>
            <a:r>
              <a:rPr lang="en-US" sz="5333" b="false" i="false" u="none" strike="noStrik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</a:rPr>
              <a:t>04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024100" y="9537700"/>
            <a:ext cx="82042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Unique IP securing our cost and quality advantages.
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024100" y="8915400"/>
            <a:ext cx="50292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99" b="false" i="false" u="none" strike="noStrik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</a:rPr>
              <a:t>Differentiation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055600" y="11442700"/>
            <a:ext cx="1155700" cy="952500"/>
          </a:xfrm>
          <a:prstGeom prst="rect">
            <a:avLst/>
          </a:prstGeom>
        </p:spPr>
        <p:txBody>
          <a:bodyPr anchor="t" rtlCol="false" lIns="0" tIns="135467" rIns="0" bIns="0"/>
          <a:lstStyle/>
          <a:p>
            <a:pPr algn="ctr" lvl="0">
              <a:lnSpc>
                <a:spcPct val="83000"/>
              </a:lnSpc>
            </a:pPr>
            <a:r>
              <a:rPr lang="en-US" sz="5333" b="false" i="false" u="none" strike="noStrik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</a:rPr>
              <a:t>05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024100" y="12026900"/>
            <a:ext cx="82042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Execution plan for pilot scaling and partnerships.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024100" y="11404600"/>
            <a:ext cx="45974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199" b="false" i="false" u="none" strike="noStrik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</a:rPr>
              <a:t>Business Roadmap
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62000" y="800100"/>
            <a:ext cx="55118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600" b="false" i="false" u="none" strike="noStrike" spc="300">
                <a:solidFill>
                  <a:srgbClr val="3885DD"/>
                </a:solidFill>
                <a:latin typeface="Space Grotesk Light"/>
                <a:ea typeface="Space Grotesk Light"/>
                <a:cs typeface="Space Grotesk Light"/>
              </a:rPr>
              <a:t>YOUR NAME / PRESENTATION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0015200" y="800100"/>
            <a:ext cx="36449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600" b="false" i="false" u="none" strike="noStrike" spc="300">
                <a:solidFill>
                  <a:srgbClr val="3885DD"/>
                </a:solidFill>
                <a:latin typeface="Space Grotesk Light"/>
                <a:ea typeface="Space Grotesk Light"/>
                <a:cs typeface="Space Grotesk Light"/>
              </a:rPr>
              <a:t>YOUR COMPANY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140716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0300" y="2527300"/>
            <a:ext cx="9677400" cy="3302000"/>
          </a:xfrm>
          <a:prstGeom prst="rect">
            <a:avLst/>
          </a:prstGeom>
        </p:spPr>
        <p:txBody>
          <a:bodyPr anchor="t" rtlCol="false" lIns="0" tIns="127000" rIns="0" bIns="0"/>
          <a:lstStyle/>
          <a:p>
            <a:pPr algn="l" lvl="0">
              <a:lnSpc>
                <a:spcPct val="99600"/>
              </a:lnSpc>
            </a:pPr>
            <a:r>
              <a:rPr lang="en-US" sz="10000" b="false" i="false" u="none" strike="noStrike">
                <a:solidFill>
                  <a:srgbClr val="FFFFFF"/>
                </a:solidFill>
                <a:latin typeface="Space Grotesk Regular"/>
                <a:ea typeface="Space Grotesk Regular"/>
                <a:cs typeface="Space Grotesk Regular"/>
              </a:rPr>
              <a:t>CRITICAL BOTTLENECKS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30300" y="7289800"/>
            <a:ext cx="7785100" cy="1282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604" b="false" i="false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Current catalyst production is costly, unpredictable, and dirty.
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800" y="8940800"/>
            <a:ext cx="9525000" cy="231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933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Current manufacturing relies on imprecise methods. This results in wasted resources, high emissions, and an inability to meet strict new environmental standards.
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658600" y="2006600"/>
            <a:ext cx="11899900" cy="32512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4871700" y="3263900"/>
            <a:ext cx="8343900" cy="142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Conventional catalysts have plateaued. Incremental improvements are no longer sufficient to meet the energy demands of modern industrial processes.
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871700" y="2578100"/>
            <a:ext cx="7200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PERFORMANCE LIMITS
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268200" y="2654300"/>
            <a:ext cx="1727200" cy="1841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658600" y="5702300"/>
            <a:ext cx="11899900" cy="3251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306300" y="6400800"/>
            <a:ext cx="1879600" cy="17272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4871700" y="6184900"/>
            <a:ext cx="7200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SCALABILITY GAP
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871700" y="6858000"/>
            <a:ext cx="8343900" cy="142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Current methods struggle to scale effectively, limiting the ability to meet large scale industrial production needs efficiently.
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658600" y="9461500"/>
            <a:ext cx="11899900" cy="32512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4871700" y="9969500"/>
            <a:ext cx="7200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COST INEFFICIENCY
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871700" y="10642600"/>
            <a:ext cx="8343900" cy="142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Without atomic precision, most expensive precious metals are inactive, driving up costs and significantly reducing profit margins.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61800" y="10033000"/>
            <a:ext cx="3048000" cy="1422400"/>
          </a:xfrm>
          <a:prstGeom prst="rect">
            <a:avLst/>
          </a:prstGeom>
        </p:spPr>
        <p:txBody>
          <a:bodyPr anchor="t" rtlCol="false" lIns="0" tIns="203200" rIns="0" bIns="0"/>
          <a:lstStyle/>
          <a:p>
            <a:pPr algn="ctr" lvl="0">
              <a:lnSpc>
                <a:spcPct val="83000"/>
              </a:lnSpc>
            </a:pPr>
            <a:r>
              <a:rPr lang="en-US" sz="8000" b="false" i="false" u="none" strike="noStrik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</a:rPr>
              <a:t>60%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88800" y="11353800"/>
            <a:ext cx="27940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66" b="false" i="false" u="none" strike="noStrike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</a:rPr>
              <a:t>METAL WASTED
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alphaModFix amt="34000"/>
          </a:blip>
          <a:stretch>
            <a:fillRect/>
          </a:stretch>
        </p:blipFill>
        <p:spPr>
          <a:xfrm rot="0">
            <a:off x="-5867400" y="5232400"/>
            <a:ext cx="10426700" cy="91948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762000" y="800100"/>
            <a:ext cx="55118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600" b="false" i="false" u="none" strike="noStrike" spc="300">
                <a:solidFill>
                  <a:srgbClr val="3885DD"/>
                </a:solidFill>
                <a:latin typeface="Space Grotesk Light"/>
                <a:ea typeface="Space Grotesk Light"/>
                <a:cs typeface="Space Grotesk Light"/>
              </a:rPr>
              <a:t>YOUR NAME / PRESENTATION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015200" y="800100"/>
            <a:ext cx="36449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600" b="false" i="false" u="none" strike="noStrike" spc="300">
                <a:solidFill>
                  <a:srgbClr val="3885DD"/>
                </a:solidFill>
                <a:latin typeface="Space Grotesk Light"/>
                <a:ea typeface="Space Grotesk Light"/>
                <a:cs typeface="Space Grotesk Light"/>
              </a:rPr>
              <a:t>YOUR COMPANY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368300" y="-203200"/>
            <a:ext cx="25095200" cy="14122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16200000">
            <a:off x="-1244600" y="6743700"/>
            <a:ext cx="146558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16200000">
            <a:off x="4864100" y="6743700"/>
            <a:ext cx="146558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16200000">
            <a:off x="10579100" y="6743700"/>
            <a:ext cx="146558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0">
            <a:off x="-2260600" y="6858000"/>
            <a:ext cx="27711400" cy="127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8516600" y="1206500"/>
            <a:ext cx="5499100" cy="2476500"/>
          </a:xfrm>
          <a:prstGeom prst="rect">
            <a:avLst/>
          </a:prstGeom>
        </p:spPr>
        <p:txBody>
          <a:bodyPr anchor="t" rtlCol="false" lIns="0" tIns="137499" rIns="0" bIns="0"/>
          <a:lstStyle/>
          <a:p>
            <a:pPr algn="l" lvl="0">
              <a:lnSpc>
                <a:spcPct val="92960"/>
              </a:lnSpc>
            </a:pPr>
            <a:r>
              <a:rPr lang="en-US" sz="7733" b="false" i="false" u="none" strike="noStrike">
                <a:solidFill>
                  <a:srgbClr val="FFFFFF"/>
                </a:solidFill>
                <a:latin typeface="Space Grotesk Regular"/>
                <a:ea typeface="Space Grotesk Regular"/>
                <a:cs typeface="Space Grotesk Regular"/>
              </a:rPr>
              <a:t>OUR SOLUTION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345400" y="800100"/>
            <a:ext cx="32893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YOUR COMPANY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516600" y="3708400"/>
            <a:ext cx="5715000" cy="2374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</a:rPr>
              <a:t>We standardize catalyst synthesis using automated robotic systems.
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516600" y="9245600"/>
            <a:ext cx="5270500" cy="3556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</a:rPr>
              <a:t>This results in wasted resources, high emissions, and an inability to meet strict new environmental standards.
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80200" y="2120900"/>
            <a:ext cx="4927600" cy="2654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FFFFFF"/>
                </a:solidFill>
                <a:latin typeface="Space Grotesk Regular"/>
                <a:ea typeface="Space Grotesk Regular"/>
                <a:cs typeface="Space Grotesk Regular"/>
              </a:rPr>
              <a:t>Bridging the critical gap between lab discovery and mass production.
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7600" y="9804400"/>
            <a:ext cx="3873500" cy="2641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2666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This eliminates reproducibility risks common in traditional chemical research and manufacturing.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296900" y="10096500"/>
            <a:ext cx="3492500" cy="204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2666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 This accelerates development cycles from years down to just a few months.
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190500" y="-165100"/>
            <a:ext cx="6286500" cy="7010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204700" y="-431800"/>
            <a:ext cx="5702300" cy="7289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108700" y="6870700"/>
            <a:ext cx="6070600" cy="7289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387600" y="7912100"/>
            <a:ext cx="1333500" cy="1511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376400" y="7912100"/>
            <a:ext cx="1333500" cy="1511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0A101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73000"/>
          </a:blip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52000"/>
          </a:blip>
          <a:stretch>
            <a:fillRect/>
          </a:stretch>
        </p:blipFill>
        <p:spPr>
          <a:xfrm rot="0">
            <a:off x="14274800" y="3009900"/>
            <a:ext cx="15925800" cy="1591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 rot="0">
            <a:off x="18376900" y="7505700"/>
            <a:ext cx="5092700" cy="5080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57300" y="7886700"/>
            <a:ext cx="3860800" cy="774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0" y="7886700"/>
            <a:ext cx="3530600" cy="774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75000"/>
          </a:blip>
          <a:stretch>
            <a:fillRect/>
          </a:stretch>
        </p:blipFill>
        <p:spPr>
          <a:xfrm rot="0">
            <a:off x="12814300" y="7505700"/>
            <a:ext cx="5092700" cy="5080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alphaModFix amt="75000"/>
          </a:blip>
          <a:stretch>
            <a:fillRect/>
          </a:stretch>
        </p:blipFill>
        <p:spPr>
          <a:xfrm rot="0">
            <a:off x="18376900" y="1993900"/>
            <a:ext cx="5092700" cy="5080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alphaModFix amt="75000"/>
          </a:blip>
          <a:stretch>
            <a:fillRect/>
          </a:stretch>
        </p:blipFill>
        <p:spPr>
          <a:xfrm rot="0">
            <a:off x="12814300" y="1993900"/>
            <a:ext cx="5092700" cy="5080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623800" y="5334000"/>
            <a:ext cx="5486400" cy="1524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8313400" y="5334000"/>
            <a:ext cx="5486400" cy="1524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855700" y="2819400"/>
            <a:ext cx="3009900" cy="3429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623800" y="10731500"/>
            <a:ext cx="5486400" cy="1524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8173700" y="10604500"/>
            <a:ext cx="5486400" cy="1524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9646900" y="2908300"/>
            <a:ext cx="2832100" cy="3263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804900" y="8470900"/>
            <a:ext cx="3124200" cy="3136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9316700" y="8420100"/>
            <a:ext cx="3213100" cy="29464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257300" y="2171700"/>
            <a:ext cx="7467600" cy="3276600"/>
          </a:xfrm>
          <a:prstGeom prst="rect">
            <a:avLst/>
          </a:prstGeom>
        </p:spPr>
        <p:txBody>
          <a:bodyPr anchor="t" rtlCol="false" lIns="0" tIns="257387" rIns="0" bIns="0"/>
          <a:lstStyle/>
          <a:p>
            <a:pPr algn="l" lvl="0">
              <a:lnSpc>
                <a:spcPct val="84660"/>
              </a:lnSpc>
            </a:pPr>
            <a:r>
              <a:rPr lang="en-US" sz="10666" b="false" i="false" u="none" strike="noStrik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</a:rPr>
              <a:t>SOLUTION</a:t>
            </a:r>
          </a:p>
          <a:p>
            <a:pPr algn="l" lvl="0">
              <a:lnSpc>
                <a:spcPct val="84660"/>
              </a:lnSpc>
            </a:pPr>
            <a:r>
              <a:rPr lang="en-US" sz="10666" b="false" i="false" u="none" strike="noStrik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</a:rPr>
              <a:t>SUITE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7300" y="5435600"/>
            <a:ext cx="10490200" cy="1231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</a:rPr>
              <a:t>Delivering scalable industrial catalysts through automated synthesis and AI-driven design.
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47800" y="8039100"/>
            <a:ext cx="3467100" cy="546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66" b="false" i="false" u="none" strike="noStrik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</a:rPr>
              <a:t>CORE PLATFORM
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72300" y="8039100"/>
            <a:ext cx="3314700" cy="546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66" b="false" i="false" u="none" strike="noStrik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</a:rPr>
              <a:t>APP PACKAGES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7300" y="8928100"/>
            <a:ext cx="4826000" cy="3187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666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Our automated foundry standardizes nanomaterial production for scale, while our pre-validated libraries enable rapid industrial integration.
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58000" y="8928100"/>
            <a:ext cx="4826000" cy="3187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666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Our automated foundry standardizes nanomaterial production for scale, while our pre-validated libraries enable rapid industrial integration.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62000" y="800100"/>
            <a:ext cx="55118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600" b="false" i="false" u="none" strike="noStrike" spc="300">
                <a:solidFill>
                  <a:srgbClr val="3885DD"/>
                </a:solidFill>
                <a:latin typeface="Space Grotesk Light"/>
                <a:ea typeface="Space Grotesk Light"/>
                <a:cs typeface="Space Grotesk Light"/>
              </a:rPr>
              <a:t>YOUR NAME / PRESENTATION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015200" y="800100"/>
            <a:ext cx="36449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600" b="false" i="false" u="none" strike="noStrike" spc="300">
                <a:solidFill>
                  <a:srgbClr val="3885DD"/>
                </a:solidFill>
                <a:latin typeface="Space Grotesk Light"/>
                <a:ea typeface="Space Grotesk Light"/>
                <a:cs typeface="Space Grotesk Light"/>
              </a:rPr>
              <a:t>YOUR COMPANY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62000" y="-419100"/>
            <a:ext cx="25882600" cy="14554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16200000">
            <a:off x="1968500" y="8559800"/>
            <a:ext cx="7785100" cy="12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-5400000">
            <a:off x="8115300" y="8559800"/>
            <a:ext cx="77851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36700" y="8229600"/>
            <a:ext cx="3365500" cy="3416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96200" y="7924800"/>
            <a:ext cx="2349500" cy="4025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182600" y="8470900"/>
            <a:ext cx="3733800" cy="2946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113500" y="8013700"/>
            <a:ext cx="3670300" cy="38608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130300" y="2006600"/>
            <a:ext cx="10655300" cy="1892300"/>
          </a:xfrm>
          <a:prstGeom prst="rect">
            <a:avLst/>
          </a:prstGeom>
        </p:spPr>
        <p:txBody>
          <a:bodyPr anchor="t" rtlCol="false" lIns="0" tIns="135467" rIns="0" bIns="0"/>
          <a:lstStyle/>
          <a:p>
            <a:pPr algn="l" lvl="0">
              <a:lnSpc>
                <a:spcPct val="99600"/>
              </a:lnSpc>
            </a:pPr>
            <a:r>
              <a:rPr lang="en-US" sz="10666" b="false" i="false" u="none" strike="noStrike">
                <a:solidFill>
                  <a:srgbClr val="FFFFFF"/>
                </a:solidFill>
                <a:latin typeface="Space Grotesk Regular"/>
                <a:ea typeface="Space Grotesk Regular"/>
                <a:cs typeface="Space Grotesk Regular"/>
              </a:rPr>
              <a:t>HOW IT WORKS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88800" y="2070100"/>
            <a:ext cx="11328400" cy="177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Space Grotesk Regular"/>
                <a:ea typeface="Space Grotesk Regular"/>
                <a:cs typeface="Space Grotesk Regular"/>
              </a:rPr>
              <a:t>Our process transforms theoretical designs into industrial realities through a rigorous four-stage engineering workflow.
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3300" y="4762500"/>
            <a:ext cx="4838700" cy="660400"/>
          </a:xfrm>
          <a:prstGeom prst="rect">
            <a:avLst/>
          </a:prstGeom>
        </p:spPr>
        <p:txBody>
          <a:bodyPr anchor="t" rtlCol="false" lIns="0" tIns="47371" rIns="0" bIns="0"/>
          <a:lstStyle/>
          <a:p>
            <a:pPr algn="l" lvl="0">
              <a:lnSpc>
                <a:spcPct val="99600"/>
              </a:lnSpc>
            </a:pPr>
            <a:r>
              <a:rPr lang="en-US" sz="3729" b="false" i="false" u="none" strike="noStrike">
                <a:solidFill>
                  <a:srgbClr val="3885DD"/>
                </a:solidFill>
                <a:latin typeface="Space Grotesk Medium"/>
                <a:ea typeface="Space Grotesk Medium"/>
                <a:cs typeface="Space Grotesk Medium"/>
              </a:rPr>
              <a:t>Rational Design
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5638800"/>
            <a:ext cx="44323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666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The specific engineering step ensures reproduction and scale.
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91300" y="4762500"/>
            <a:ext cx="5359400" cy="660400"/>
          </a:xfrm>
          <a:prstGeom prst="rect">
            <a:avLst/>
          </a:prstGeom>
        </p:spPr>
        <p:txBody>
          <a:bodyPr anchor="t" rtlCol="false" lIns="0" tIns="47371" rIns="0" bIns="0"/>
          <a:lstStyle/>
          <a:p>
            <a:pPr algn="l" lvl="0">
              <a:lnSpc>
                <a:spcPct val="99600"/>
              </a:lnSpc>
            </a:pPr>
            <a:r>
              <a:rPr lang="en-US" sz="3729" b="false" i="false" u="none" strike="noStrike">
                <a:solidFill>
                  <a:srgbClr val="3885DD"/>
                </a:solidFill>
                <a:latin typeface="Space Grotesk Medium"/>
                <a:ea typeface="Space Grotesk Medium"/>
                <a:cs typeface="Space Grotesk Medium"/>
              </a:rPr>
              <a:t>Controlled Synthesis
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02400" y="5638800"/>
            <a:ext cx="44323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666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The specific engineering step ensures reproduction and scale.
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00000" y="4762500"/>
            <a:ext cx="4838700" cy="660400"/>
          </a:xfrm>
          <a:prstGeom prst="rect">
            <a:avLst/>
          </a:prstGeom>
        </p:spPr>
        <p:txBody>
          <a:bodyPr anchor="t" rtlCol="false" lIns="0" tIns="47371" rIns="0" bIns="0"/>
          <a:lstStyle/>
          <a:p>
            <a:pPr algn="l" lvl="0">
              <a:lnSpc>
                <a:spcPct val="99600"/>
              </a:lnSpc>
            </a:pPr>
            <a:r>
              <a:rPr lang="en-US" sz="3729" b="false" i="false" u="none" strike="noStrike">
                <a:solidFill>
                  <a:srgbClr val="3885DD"/>
                </a:solidFill>
                <a:latin typeface="Space Grotesk Medium"/>
                <a:ea typeface="Space Grotesk Medium"/>
                <a:cs typeface="Space Grotesk Medium"/>
              </a:rPr>
              <a:t>Surface Anchoring
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11100" y="5638800"/>
            <a:ext cx="44323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666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The specific engineering step ensures reproduction and scale.
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872200" y="4762500"/>
            <a:ext cx="4838700" cy="660400"/>
          </a:xfrm>
          <a:prstGeom prst="rect">
            <a:avLst/>
          </a:prstGeom>
        </p:spPr>
        <p:txBody>
          <a:bodyPr anchor="t" rtlCol="false" lIns="0" tIns="47371" rIns="0" bIns="0"/>
          <a:lstStyle/>
          <a:p>
            <a:pPr algn="l" lvl="0">
              <a:lnSpc>
                <a:spcPct val="99600"/>
              </a:lnSpc>
            </a:pPr>
            <a:r>
              <a:rPr lang="en-US" sz="3729" b="false" i="false" u="none" strike="noStrike">
                <a:solidFill>
                  <a:srgbClr val="3885DD"/>
                </a:solidFill>
                <a:latin typeface="Space Grotesk Medium"/>
                <a:ea typeface="Space Grotesk Medium"/>
                <a:cs typeface="Space Grotesk Medium"/>
              </a:rPr>
              <a:t>Mass Production
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783300" y="5638800"/>
            <a:ext cx="44323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666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The specific engineering step ensures reproduction and scale.
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-5400000">
            <a:off x="14147800" y="8559800"/>
            <a:ext cx="7785100" cy="127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762000" y="800100"/>
            <a:ext cx="55118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600" b="false" i="false" u="none" strike="noStrike" spc="300">
                <a:solidFill>
                  <a:srgbClr val="3885DD"/>
                </a:solidFill>
                <a:latin typeface="Space Grotesk Light"/>
                <a:ea typeface="Space Grotesk Light"/>
                <a:cs typeface="Space Grotesk Light"/>
              </a:rPr>
              <a:t>YOUR NAME / PRESENTATION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015200" y="800100"/>
            <a:ext cx="36449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600" b="false" i="false" u="none" strike="noStrike" spc="300">
                <a:solidFill>
                  <a:srgbClr val="3885DD"/>
                </a:solidFill>
                <a:latin typeface="Space Grotesk Light"/>
                <a:ea typeface="Space Grotesk Light"/>
                <a:cs typeface="Space Grotesk Light"/>
              </a:rPr>
              <a:t>YOUR COMPANY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14243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34000"/>
          </a:blip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397000" y="1714500"/>
            <a:ext cx="9791700" cy="3937000"/>
          </a:xfrm>
          <a:prstGeom prst="rect">
            <a:avLst/>
          </a:prstGeom>
        </p:spPr>
        <p:txBody>
          <a:bodyPr anchor="t" rtlCol="false" lIns="0" tIns="170603" rIns="0" bIns="0"/>
          <a:lstStyle/>
          <a:p>
            <a:pPr algn="l" lvl="0">
              <a:lnSpc>
                <a:spcPct val="90470"/>
              </a:lnSpc>
            </a:pPr>
            <a:r>
              <a:rPr lang="en-US" sz="8666" b="false" i="false" u="none" strike="noStrike">
                <a:solidFill>
                  <a:srgbClr val="FFFFFF"/>
                </a:solidFill>
                <a:latin typeface="Space Grotesk Regular"/>
                <a:ea typeface="Space Grotesk Regular"/>
                <a:cs typeface="Space Grotesk Regular"/>
              </a:rPr>
              <a:t>UNRIVALED PEFRORMANCE METRICS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97000" y="5969000"/>
            <a:ext cx="10502900" cy="177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Space Grotesk Regular"/>
                <a:ea typeface="Space Grotesk Regular"/>
                <a:cs typeface="Space Grotesk Regular"/>
              </a:rPr>
              <a:t>Our technology demonstrates superior catalytic efficiency and stability compared to industry standards.
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7000" y="8509000"/>
            <a:ext cx="10731500" cy="4114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0">
            <a:off x="2044700" y="10248900"/>
            <a:ext cx="9486900" cy="12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171700" y="8724900"/>
            <a:ext cx="2603500" cy="1536700"/>
          </a:xfrm>
          <a:prstGeom prst="rect">
            <a:avLst/>
          </a:prstGeom>
        </p:spPr>
        <p:txBody>
          <a:bodyPr anchor="t" rtlCol="false" lIns="0" tIns="110067" rIns="0" bIns="0"/>
          <a:lstStyle/>
          <a:p>
            <a:pPr algn="l" lvl="0">
              <a:lnSpc>
                <a:spcPct val="99600"/>
              </a:lnSpc>
            </a:pPr>
            <a:r>
              <a:rPr lang="en-US" sz="8666" b="false" i="false" u="none" strike="noStrik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</a:rPr>
              <a:t>40%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99000" y="9156700"/>
            <a:ext cx="6350000" cy="660400"/>
          </a:xfrm>
          <a:prstGeom prst="rect">
            <a:avLst/>
          </a:prstGeom>
        </p:spPr>
        <p:txBody>
          <a:bodyPr anchor="t" rtlCol="false" lIns="0" tIns="47371" rIns="0" bIns="0"/>
          <a:lstStyle/>
          <a:p>
            <a:pPr algn="l" lvl="0">
              <a:lnSpc>
                <a:spcPct val="99600"/>
              </a:lnSpc>
            </a:pPr>
            <a:r>
              <a:rPr lang="en-US" sz="3729" b="false" i="false" u="none" strike="noStrike">
                <a:solidFill>
                  <a:srgbClr val="FFFFFF"/>
                </a:solidFill>
                <a:latin typeface="Space Grotesk Regular"/>
                <a:ea typeface="Space Grotesk Regular"/>
                <a:cs typeface="Space Grotesk Regular"/>
              </a:rPr>
              <a:t>Reduction in Energy Costs
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44700" y="10566400"/>
            <a:ext cx="95885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666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By enabling low-temperature activation, our catalyst significantly lowers thermal energy requirements, directly translating to higher operating margins.
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423900" y="6146800"/>
            <a:ext cx="4521200" cy="45212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4630400" y="7213600"/>
            <a:ext cx="21590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66" b="false" i="false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KEY METRIC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09700" y="8636000"/>
            <a:ext cx="3060700" cy="11049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ctr" lvl="0">
              <a:lnSpc>
                <a:spcPct val="99600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Inter Black"/>
                <a:ea typeface="Inter Black"/>
                <a:cs typeface="Inter Black"/>
              </a:rPr>
              <a:t>Core Patents Secured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843000" y="7518400"/>
            <a:ext cx="3708400" cy="1308100"/>
          </a:xfrm>
          <a:prstGeom prst="rect">
            <a:avLst/>
          </a:prstGeom>
        </p:spPr>
        <p:txBody>
          <a:bodyPr anchor="t" rtlCol="false" lIns="0" tIns="93133" rIns="0" bIns="0"/>
          <a:lstStyle/>
          <a:p>
            <a:pPr algn="ctr" lvl="0">
              <a:lnSpc>
                <a:spcPct val="99600"/>
              </a:lnSpc>
            </a:pPr>
            <a:r>
              <a:rPr lang="en-US" sz="7333" b="false" i="false" u="none" strike="noStrik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</a:rPr>
              <a:t>5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804900" y="1346200"/>
            <a:ext cx="4521200" cy="45212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5240000" y="2463800"/>
            <a:ext cx="21590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66" b="false" i="false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KEY METRIC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719300" y="3848100"/>
            <a:ext cx="2692400" cy="11049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ctr" lvl="0">
              <a:lnSpc>
                <a:spcPct val="99600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Inter Black"/>
                <a:ea typeface="Inter Black"/>
                <a:cs typeface="Inter Black"/>
              </a:rPr>
              <a:t>Product Selectivity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211300" y="2768600"/>
            <a:ext cx="3708400" cy="1308100"/>
          </a:xfrm>
          <a:prstGeom prst="rect">
            <a:avLst/>
          </a:prstGeom>
        </p:spPr>
        <p:txBody>
          <a:bodyPr anchor="t" rtlCol="false" lIns="0" tIns="93133" rIns="0" bIns="0"/>
          <a:lstStyle/>
          <a:p>
            <a:pPr algn="ctr" lvl="0">
              <a:lnSpc>
                <a:spcPct val="99600"/>
              </a:lnSpc>
            </a:pPr>
            <a:r>
              <a:rPr lang="en-US" sz="7333" b="false" i="false" u="none" strike="noStrik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</a:rPr>
              <a:t>99.9%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440400" y="3022600"/>
            <a:ext cx="4521200" cy="45212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9621500" y="4076700"/>
            <a:ext cx="21590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66" b="false" i="false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KEY METRIC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062700" y="5562600"/>
            <a:ext cx="3251200" cy="11049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ctr" lvl="0">
              <a:lnSpc>
                <a:spcPct val="99600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Inter Black"/>
                <a:ea typeface="Inter Black"/>
                <a:cs typeface="Inter Black"/>
              </a:rPr>
              <a:t>High Reaction Rate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834100" y="4445000"/>
            <a:ext cx="3708400" cy="1308100"/>
          </a:xfrm>
          <a:prstGeom prst="rect">
            <a:avLst/>
          </a:prstGeom>
        </p:spPr>
        <p:txBody>
          <a:bodyPr anchor="t" rtlCol="false" lIns="0" tIns="93133" rIns="0" bIns="0"/>
          <a:lstStyle/>
          <a:p>
            <a:pPr algn="ctr" lvl="0">
              <a:lnSpc>
                <a:spcPct val="99600"/>
              </a:lnSpc>
            </a:pPr>
            <a:r>
              <a:rPr lang="en-US" sz="7333" b="false" i="false" u="none" strike="noStrik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</a:rPr>
              <a:t>3x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148300" y="7848600"/>
            <a:ext cx="4521200" cy="45212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9164300" y="8928100"/>
            <a:ext cx="25019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66" b="false" i="false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STABILITY TEST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062700" y="10401300"/>
            <a:ext cx="2692400" cy="11049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ctr" lvl="0">
              <a:lnSpc>
                <a:spcPct val="99600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Inter Black"/>
                <a:ea typeface="Inter Black"/>
                <a:cs typeface="Inter Black"/>
              </a:rPr>
              <a:t>Continuous</a:t>
            </a:r>
          </a:p>
          <a:p>
            <a:pPr algn="ctr" lvl="0">
              <a:lnSpc>
                <a:spcPct val="99600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Inter Black"/>
                <a:ea typeface="Inter Black"/>
                <a:cs typeface="Inter Black"/>
              </a:rPr>
              <a:t>Operation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275300" y="9245600"/>
            <a:ext cx="4267200" cy="1485900"/>
          </a:xfrm>
          <a:prstGeom prst="rect">
            <a:avLst/>
          </a:prstGeom>
        </p:spPr>
        <p:txBody>
          <a:bodyPr anchor="t" rtlCol="false" lIns="0" tIns="93133" rIns="0" bIns="0"/>
          <a:lstStyle/>
          <a:p>
            <a:pPr algn="ctr" lvl="0">
              <a:lnSpc>
                <a:spcPct val="99600"/>
              </a:lnSpc>
            </a:pPr>
            <a:r>
              <a:rPr lang="en-US" sz="7333" b="false" i="false" u="none" strike="noStrik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</a:rPr>
              <a:t>15,000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62000" y="800100"/>
            <a:ext cx="55118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600" b="false" i="false" u="none" strike="noStrike" spc="300">
                <a:solidFill>
                  <a:srgbClr val="3885DD"/>
                </a:solidFill>
                <a:latin typeface="Space Grotesk Light"/>
                <a:ea typeface="Space Grotesk Light"/>
                <a:cs typeface="Space Grotesk Light"/>
              </a:rPr>
              <a:t>YOUR NAME / PRESENTATION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015200" y="800100"/>
            <a:ext cx="36449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600" b="false" i="false" u="none" strike="noStrike" spc="300">
                <a:solidFill>
                  <a:srgbClr val="3885DD"/>
                </a:solidFill>
                <a:latin typeface="Space Grotesk Light"/>
                <a:ea typeface="Space Grotesk Light"/>
                <a:cs typeface="Space Grotesk Light"/>
              </a:rPr>
              <a:t>YOUR COMPANY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14243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 rot="0">
            <a:off x="18529300" y="9182100"/>
            <a:ext cx="4965700" cy="3467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0">
            <a:off x="18529300" y="9182100"/>
            <a:ext cx="4965700" cy="3467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1000"/>
          </a:blip>
          <a:stretch>
            <a:fillRect/>
          </a:stretch>
        </p:blipFill>
        <p:spPr>
          <a:xfrm rot="0">
            <a:off x="18529300" y="5321300"/>
            <a:ext cx="4965700" cy="3467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0">
            <a:off x="18529300" y="5321300"/>
            <a:ext cx="4965700" cy="3467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21000"/>
          </a:blip>
          <a:stretch>
            <a:fillRect/>
          </a:stretch>
        </p:blipFill>
        <p:spPr>
          <a:xfrm rot="0">
            <a:off x="13106400" y="7213600"/>
            <a:ext cx="4965700" cy="5499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 rot="0">
            <a:off x="13106400" y="7200900"/>
            <a:ext cx="4965700" cy="5499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alphaModFix amt="21000"/>
          </a:blip>
          <a:stretch>
            <a:fillRect/>
          </a:stretch>
        </p:blipFill>
        <p:spPr>
          <a:xfrm rot="0">
            <a:off x="18529300" y="1473200"/>
            <a:ext cx="4965700" cy="3467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 rot="0">
            <a:off x="18529300" y="1460500"/>
            <a:ext cx="4965700" cy="3467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266700" y="-254000"/>
            <a:ext cx="12458700" cy="13970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0" y="800100"/>
            <a:ext cx="12192000" cy="12915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>
            <a:alphaModFix amt="21000"/>
          </a:blip>
          <a:stretch>
            <a:fillRect/>
          </a:stretch>
        </p:blipFill>
        <p:spPr>
          <a:xfrm rot="0">
            <a:off x="13106400" y="1473200"/>
            <a:ext cx="4965700" cy="54991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384300" y="7188200"/>
            <a:ext cx="10553700" cy="3517900"/>
          </a:xfrm>
          <a:prstGeom prst="rect">
            <a:avLst/>
          </a:prstGeom>
        </p:spPr>
        <p:txBody>
          <a:bodyPr anchor="t" rtlCol="false" lIns="0" tIns="292823" rIns="0" bIns="0"/>
          <a:lstStyle/>
          <a:p>
            <a:pPr algn="l" lvl="0">
              <a:lnSpc>
                <a:spcPct val="83000"/>
              </a:lnSpc>
            </a:pPr>
            <a:r>
              <a:rPr lang="en-US" sz="11528" b="false" i="false" u="none" strike="noStrike">
                <a:solidFill>
                  <a:srgbClr val="FFFFFF"/>
                </a:solidFill>
                <a:latin typeface="Space Grotesk Regular"/>
                <a:ea typeface="Space Grotesk Regular"/>
                <a:cs typeface="Space Grotesk Regular"/>
              </a:rPr>
              <a:t>BENCHMARK RESULTS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84300" y="10769600"/>
            <a:ext cx="8877300" cy="177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Space Grotesk Regular"/>
                <a:ea typeface="Space Grotesk Regular"/>
                <a:cs typeface="Space Grotesk Regular"/>
              </a:rPr>
              <a:t>Demonstrating superior stability, efficiency, and scalability against commercial standards.
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576300" y="10820400"/>
            <a:ext cx="40386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GRAM-PER-GRAM OUTPUT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19100" y="9918700"/>
            <a:ext cx="4953000" cy="762000"/>
          </a:xfrm>
          <a:prstGeom prst="rect">
            <a:avLst/>
          </a:prstGeom>
        </p:spPr>
        <p:txBody>
          <a:bodyPr anchor="t" rtlCol="false" lIns="0" tIns="54187" rIns="0" bIns="0"/>
          <a:lstStyle/>
          <a:p>
            <a:pPr algn="ctr" lvl="0">
              <a:lnSpc>
                <a:spcPct val="99600"/>
              </a:lnSpc>
            </a:pPr>
            <a:r>
              <a:rPr lang="en-US" sz="4266" b="false" i="false" u="none" strike="noStrike" cap="all">
                <a:solidFill>
                  <a:srgbClr val="3885DD"/>
                </a:solidFill>
                <a:latin typeface="Space Grotesk Medium"/>
                <a:ea typeface="Space Grotesk Medium"/>
                <a:cs typeface="Space Grotesk Medium"/>
              </a:rPr>
              <a:t>Yield Increase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69900" y="7950200"/>
            <a:ext cx="4838700" cy="2235200"/>
          </a:xfrm>
          <a:prstGeom prst="rect">
            <a:avLst/>
          </a:prstGeom>
        </p:spPr>
        <p:txBody>
          <a:bodyPr anchor="t" rtlCol="false" lIns="0" tIns="160031" rIns="0" bIns="0"/>
          <a:lstStyle/>
          <a:p>
            <a:pPr algn="ctr" lvl="0">
              <a:lnSpc>
                <a:spcPct val="99600"/>
              </a:lnSpc>
            </a:pPr>
            <a:r>
              <a:rPr lang="en-US" sz="12600" b="false" i="false" u="none" strike="noStrik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</a:rPr>
              <a:t>3x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999200" y="3924300"/>
            <a:ext cx="40386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CONTINUOUS RUN/ &lt;1% LOSS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999200" y="7683500"/>
            <a:ext cx="40386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CONTINUOUS RUN/ &lt;1% LOSS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100800" y="3187700"/>
            <a:ext cx="3822700" cy="762000"/>
          </a:xfrm>
          <a:prstGeom prst="rect">
            <a:avLst/>
          </a:prstGeom>
        </p:spPr>
        <p:txBody>
          <a:bodyPr anchor="t" rtlCol="false" lIns="0" tIns="54187" rIns="0" bIns="0"/>
          <a:lstStyle/>
          <a:p>
            <a:pPr algn="ctr" lvl="0">
              <a:lnSpc>
                <a:spcPct val="99600"/>
              </a:lnSpc>
            </a:pPr>
            <a:r>
              <a:rPr lang="en-US" sz="4266" b="false" i="false" u="none" strike="noStrike" cap="all">
                <a:solidFill>
                  <a:srgbClr val="3885DD"/>
                </a:solidFill>
                <a:latin typeface="Space Grotesk Medium"/>
                <a:ea typeface="Space Grotesk Medium"/>
                <a:cs typeface="Space Grotesk Medium"/>
              </a:rPr>
              <a:t>Stability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100800" y="6959600"/>
            <a:ext cx="3822700" cy="762000"/>
          </a:xfrm>
          <a:prstGeom prst="rect">
            <a:avLst/>
          </a:prstGeom>
        </p:spPr>
        <p:txBody>
          <a:bodyPr anchor="t" rtlCol="false" lIns="0" tIns="54187" rIns="0" bIns="0"/>
          <a:lstStyle/>
          <a:p>
            <a:pPr algn="ctr" lvl="0">
              <a:lnSpc>
                <a:spcPct val="99600"/>
              </a:lnSpc>
            </a:pPr>
            <a:r>
              <a:rPr lang="en-US" sz="4266" b="false" i="false" u="none" strike="noStrike" cap="all">
                <a:solidFill>
                  <a:srgbClr val="3885DD"/>
                </a:solidFill>
                <a:latin typeface="Space Grotesk Medium"/>
                <a:ea typeface="Space Grotesk Medium"/>
                <a:cs typeface="Space Grotesk Medium"/>
              </a:rPr>
              <a:t>Cost Cut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707100" y="1828800"/>
            <a:ext cx="4622800" cy="1536700"/>
          </a:xfrm>
          <a:prstGeom prst="rect">
            <a:avLst/>
          </a:prstGeom>
        </p:spPr>
        <p:txBody>
          <a:bodyPr anchor="t" rtlCol="false" lIns="0" tIns="110091" rIns="0" bIns="0"/>
          <a:lstStyle/>
          <a:p>
            <a:pPr algn="ctr" lvl="0">
              <a:lnSpc>
                <a:spcPct val="99600"/>
              </a:lnSpc>
            </a:pPr>
            <a:r>
              <a:rPr lang="en-US" sz="8668" b="false" i="false" u="none" strike="noStrik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</a:rPr>
              <a:t>5,000h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707100" y="5651500"/>
            <a:ext cx="4622800" cy="1536700"/>
          </a:xfrm>
          <a:prstGeom prst="rect">
            <a:avLst/>
          </a:prstGeom>
        </p:spPr>
        <p:txBody>
          <a:bodyPr anchor="t" rtlCol="false" lIns="0" tIns="110091" rIns="0" bIns="0"/>
          <a:lstStyle/>
          <a:p>
            <a:pPr algn="ctr" lvl="0">
              <a:lnSpc>
                <a:spcPct val="99600"/>
              </a:lnSpc>
            </a:pPr>
            <a:r>
              <a:rPr lang="en-US" sz="8668" b="false" i="false" u="none" strike="noStrik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</a:rPr>
              <a:t>40%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999200" y="11506200"/>
            <a:ext cx="40386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PILOT-READY VALIDATED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100800" y="10782300"/>
            <a:ext cx="3822700" cy="762000"/>
          </a:xfrm>
          <a:prstGeom prst="rect">
            <a:avLst/>
          </a:prstGeom>
        </p:spPr>
        <p:txBody>
          <a:bodyPr anchor="t" rtlCol="false" lIns="0" tIns="54187" rIns="0" bIns="0"/>
          <a:lstStyle/>
          <a:p>
            <a:pPr algn="ctr" lvl="0">
              <a:lnSpc>
                <a:spcPct val="99600"/>
              </a:lnSpc>
            </a:pPr>
            <a:r>
              <a:rPr lang="en-US" sz="4266" b="false" i="false" u="none" strike="noStrike" cap="all">
                <a:solidFill>
                  <a:srgbClr val="3885DD"/>
                </a:solidFill>
                <a:latin typeface="Space Grotesk Medium"/>
                <a:ea typeface="Space Grotesk Medium"/>
                <a:cs typeface="Space Grotesk Medium"/>
              </a:rPr>
              <a:t>TRL Status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707100" y="9499600"/>
            <a:ext cx="4622800" cy="1536700"/>
          </a:xfrm>
          <a:prstGeom prst="rect">
            <a:avLst/>
          </a:prstGeom>
        </p:spPr>
        <p:txBody>
          <a:bodyPr anchor="t" rtlCol="false" lIns="0" tIns="110091" rIns="0" bIns="0"/>
          <a:lstStyle/>
          <a:p>
            <a:pPr algn="ctr" lvl="0">
              <a:lnSpc>
                <a:spcPct val="99600"/>
              </a:lnSpc>
            </a:pPr>
            <a:r>
              <a:rPr lang="en-US" sz="8668" b="false" i="false" u="none" strike="noStrik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</a:rPr>
              <a:t>6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 rot="0">
            <a:off x="13106400" y="1460500"/>
            <a:ext cx="4965700" cy="54991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3576300" y="5207000"/>
            <a:ext cx="40386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VS. MARKET AVERAGE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677900" y="4432300"/>
            <a:ext cx="3822700" cy="762000"/>
          </a:xfrm>
          <a:prstGeom prst="rect">
            <a:avLst/>
          </a:prstGeom>
        </p:spPr>
        <p:txBody>
          <a:bodyPr anchor="t" rtlCol="false" lIns="0" tIns="54187" rIns="0" bIns="0"/>
          <a:lstStyle/>
          <a:p>
            <a:pPr algn="ctr" lvl="0">
              <a:lnSpc>
                <a:spcPct val="99600"/>
              </a:lnSpc>
            </a:pPr>
            <a:r>
              <a:rPr lang="en-US" sz="4266" b="false" i="false" u="none" strike="noStrike" cap="all">
                <a:solidFill>
                  <a:srgbClr val="3885DD"/>
                </a:solidFill>
                <a:latin typeface="Space Grotesk Medium"/>
                <a:ea typeface="Space Grotesk Medium"/>
                <a:cs typeface="Space Grotesk Medium"/>
              </a:rPr>
              <a:t>Selectivity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169900" y="2527300"/>
            <a:ext cx="4838700" cy="2235200"/>
          </a:xfrm>
          <a:prstGeom prst="rect">
            <a:avLst/>
          </a:prstGeom>
        </p:spPr>
        <p:txBody>
          <a:bodyPr anchor="t" rtlCol="false" lIns="0" tIns="160031" rIns="0" bIns="0"/>
          <a:lstStyle/>
          <a:p>
            <a:pPr algn="ctr" lvl="0">
              <a:lnSpc>
                <a:spcPct val="99600"/>
              </a:lnSpc>
            </a:pPr>
            <a:r>
              <a:rPr lang="en-US" sz="12600" b="false" i="false" u="none" strike="noStrik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</a:rPr>
              <a:t>98%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62000" y="800100"/>
            <a:ext cx="55118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600" b="false" i="false" u="none" strike="noStrike" spc="300">
                <a:solidFill>
                  <a:srgbClr val="3885DD"/>
                </a:solidFill>
                <a:latin typeface="Space Grotesk Light"/>
                <a:ea typeface="Space Grotesk Light"/>
                <a:cs typeface="Space Grotesk Light"/>
              </a:rPr>
              <a:t>YOUR NAME / PRESENTATION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0015200" y="800100"/>
            <a:ext cx="36449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600" b="false" i="false" u="none" strike="noStrike" spc="300">
                <a:solidFill>
                  <a:srgbClr val="3885DD"/>
                </a:solidFill>
                <a:latin typeface="Space Grotesk Light"/>
                <a:ea typeface="Space Grotesk Light"/>
                <a:cs typeface="Space Grotesk Light"/>
              </a:rPr>
              <a:t>YOUR COMPANY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1409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 rot="0">
            <a:off x="12560300" y="5257800"/>
            <a:ext cx="10375900" cy="1009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75000"/>
          </a:blip>
          <a:stretch>
            <a:fillRect/>
          </a:stretch>
        </p:blipFill>
        <p:spPr>
          <a:xfrm rot="0">
            <a:off x="14058900" y="5753100"/>
            <a:ext cx="7137400" cy="1104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 rot="0">
            <a:off x="13182600" y="8369300"/>
            <a:ext cx="91440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 rot="0">
            <a:off x="13182600" y="9728200"/>
            <a:ext cx="9144000" cy="2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 rot="0">
            <a:off x="13182600" y="11087100"/>
            <a:ext cx="9144000" cy="2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173200" y="7302500"/>
            <a:ext cx="876300" cy="876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173200" y="8623300"/>
            <a:ext cx="876300" cy="876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173200" y="9982200"/>
            <a:ext cx="876300" cy="8763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3797300" y="1397000"/>
            <a:ext cx="16789400" cy="1689100"/>
          </a:xfrm>
          <a:prstGeom prst="rect">
            <a:avLst/>
          </a:prstGeom>
        </p:spPr>
        <p:txBody>
          <a:bodyPr anchor="t" rtlCol="false" lIns="0" tIns="120227" rIns="0" bIns="0"/>
          <a:lstStyle/>
          <a:p>
            <a:pPr algn="ctr" lvl="0">
              <a:lnSpc>
                <a:spcPct val="99600"/>
              </a:lnSpc>
            </a:pPr>
            <a:r>
              <a:rPr lang="en-US" sz="9466" b="false" i="false" u="none" strike="noStrike">
                <a:solidFill>
                  <a:srgbClr val="3885DD"/>
                </a:solidFill>
                <a:latin typeface="Space Grotesk Medium"/>
                <a:ea typeface="Space Grotesk Medium"/>
                <a:cs typeface="Space Grotesk Medium"/>
              </a:rPr>
              <a:t>KEY DIFFERENTIATORS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05400" y="3073400"/>
            <a:ext cx="141732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</a:rPr>
              <a:t>Our proprietary synthesis platform solves the trilemma of activity, durability, and scalability that limits conventional nanocatalysts.
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300200" y="5969000"/>
            <a:ext cx="6731000" cy="660400"/>
          </a:xfrm>
          <a:prstGeom prst="rect">
            <a:avLst/>
          </a:prstGeom>
        </p:spPr>
        <p:txBody>
          <a:bodyPr anchor="t" rtlCol="false" lIns="0" tIns="47371" rIns="0" bIns="0"/>
          <a:lstStyle/>
          <a:p>
            <a:pPr algn="ctr" lvl="0">
              <a:lnSpc>
                <a:spcPct val="99600"/>
              </a:lnSpc>
            </a:pPr>
            <a:r>
              <a:rPr lang="en-US" sz="3729" b="false" i="false" u="none" strike="noStrik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</a:rPr>
              <a:t>CONVENTIONAL METHODS
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316200" y="7442200"/>
            <a:ext cx="6756400" cy="596900"/>
          </a:xfrm>
          <a:prstGeom prst="rect">
            <a:avLst/>
          </a:prstGeom>
        </p:spPr>
        <p:txBody>
          <a:bodyPr anchor="t" rtlCol="false" lIns="0" tIns="42291" rIns="0" bIns="0"/>
          <a:lstStyle/>
          <a:p>
            <a:pPr algn="l" lvl="0">
              <a:lnSpc>
                <a:spcPct val="99600"/>
              </a:lnSpc>
            </a:pPr>
            <a:r>
              <a:rPr lang="en-US" sz="3329" b="false" i="false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Limited batch processing.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12900" y="7442200"/>
            <a:ext cx="622300" cy="596900"/>
          </a:xfrm>
          <a:prstGeom prst="rect">
            <a:avLst/>
          </a:prstGeom>
        </p:spPr>
        <p:txBody>
          <a:bodyPr anchor="t" rtlCol="false" lIns="0" tIns="42291" rIns="0" bIns="0"/>
          <a:lstStyle/>
          <a:p>
            <a:pPr algn="ctr" lvl="0">
              <a:lnSpc>
                <a:spcPct val="99600"/>
              </a:lnSpc>
            </a:pPr>
            <a:r>
              <a:rPr lang="en-US" sz="3329" b="false" i="false" u="none" strike="noStrike">
                <a:solidFill>
                  <a:srgbClr val="FFFFFF"/>
                </a:solidFill>
                <a:latin typeface="Space Grotesk Regular"/>
                <a:ea typeface="Space Grotesk Regular"/>
                <a:cs typeface="Space Grotesk Regular"/>
              </a:rPr>
              <a:t>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316200" y="8763000"/>
            <a:ext cx="6756400" cy="596900"/>
          </a:xfrm>
          <a:prstGeom prst="rect">
            <a:avLst/>
          </a:prstGeom>
        </p:spPr>
        <p:txBody>
          <a:bodyPr anchor="t" rtlCol="false" lIns="0" tIns="42291" rIns="0" bIns="0"/>
          <a:lstStyle/>
          <a:p>
            <a:pPr algn="l" lvl="0">
              <a:lnSpc>
                <a:spcPct val="99600"/>
              </a:lnSpc>
            </a:pPr>
            <a:r>
              <a:rPr lang="en-US" sz="3329" b="false" i="false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Inconsistent quality control.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12900" y="8763000"/>
            <a:ext cx="622300" cy="596900"/>
          </a:xfrm>
          <a:prstGeom prst="rect">
            <a:avLst/>
          </a:prstGeom>
        </p:spPr>
        <p:txBody>
          <a:bodyPr anchor="t" rtlCol="false" lIns="0" tIns="42291" rIns="0" bIns="0"/>
          <a:lstStyle/>
          <a:p>
            <a:pPr algn="ctr" lvl="0">
              <a:lnSpc>
                <a:spcPct val="99600"/>
              </a:lnSpc>
            </a:pPr>
            <a:r>
              <a:rPr lang="en-US" sz="3329" b="false" i="false" u="none" strike="noStrike">
                <a:solidFill>
                  <a:srgbClr val="FFFFFF"/>
                </a:solidFill>
                <a:latin typeface="Space Grotesk Regular"/>
                <a:ea typeface="Space Grotesk Regular"/>
                <a:cs typeface="Space Grotesk Regular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316200" y="10121900"/>
            <a:ext cx="6756400" cy="596900"/>
          </a:xfrm>
          <a:prstGeom prst="rect">
            <a:avLst/>
          </a:prstGeom>
        </p:spPr>
        <p:txBody>
          <a:bodyPr anchor="t" rtlCol="false" lIns="0" tIns="42291" rIns="0" bIns="0"/>
          <a:lstStyle/>
          <a:p>
            <a:pPr algn="l" lvl="0">
              <a:lnSpc>
                <a:spcPct val="99600"/>
              </a:lnSpc>
            </a:pPr>
            <a:r>
              <a:rPr lang="en-US" sz="3329" b="false" i="false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High raw material waste.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312900" y="10121900"/>
            <a:ext cx="622300" cy="596900"/>
          </a:xfrm>
          <a:prstGeom prst="rect">
            <a:avLst/>
          </a:prstGeom>
        </p:spPr>
        <p:txBody>
          <a:bodyPr anchor="t" rtlCol="false" lIns="0" tIns="42291" rIns="0" bIns="0"/>
          <a:lstStyle/>
          <a:p>
            <a:pPr algn="ctr" lvl="0">
              <a:lnSpc>
                <a:spcPct val="99600"/>
              </a:lnSpc>
            </a:pPr>
            <a:r>
              <a:rPr lang="en-US" sz="3329" b="false" i="false" u="none" strike="noStrike">
                <a:solidFill>
                  <a:srgbClr val="FFFFFF"/>
                </a:solidFill>
                <a:latin typeface="Space Grotesk Regular"/>
                <a:ea typeface="Space Grotesk Regular"/>
                <a:cs typeface="Space Grotesk Regular"/>
              </a:rPr>
              <a:t>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95300" y="11531600"/>
            <a:ext cx="9169400" cy="142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Standard batch manufacturing methods suffer from significant variability and yield losses during scale-up, making high-performance catalysts unviable.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19183723">
            <a:off x="-3403600" y="6451600"/>
            <a:ext cx="6807200" cy="11569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0">
            <a:alphaModFix amt="75000"/>
          </a:blip>
          <a:stretch>
            <a:fillRect/>
          </a:stretch>
        </p:blipFill>
        <p:spPr>
          <a:xfrm rot="0">
            <a:off x="1447800" y="5257800"/>
            <a:ext cx="10375900" cy="99568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1">
            <a:alphaModFix amt="75000"/>
          </a:blip>
          <a:stretch>
            <a:fillRect/>
          </a:stretch>
        </p:blipFill>
        <p:spPr>
          <a:xfrm rot="0">
            <a:off x="3505200" y="5753100"/>
            <a:ext cx="6261100" cy="11049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 rot="0">
            <a:off x="2070100" y="8369300"/>
            <a:ext cx="9144000" cy="25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 rot="0">
            <a:off x="2070100" y="9728200"/>
            <a:ext cx="9144000" cy="254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 rot="0">
            <a:off x="2070100" y="11087100"/>
            <a:ext cx="9144000" cy="25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755900" y="7302500"/>
            <a:ext cx="876300" cy="876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755900" y="8623300"/>
            <a:ext cx="876300" cy="8763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755900" y="9982200"/>
            <a:ext cx="876300" cy="8763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3746500" y="5969000"/>
            <a:ext cx="5778500" cy="660400"/>
          </a:xfrm>
          <a:prstGeom prst="rect">
            <a:avLst/>
          </a:prstGeom>
        </p:spPr>
        <p:txBody>
          <a:bodyPr anchor="t" rtlCol="false" lIns="0" tIns="47371" rIns="0" bIns="0"/>
          <a:lstStyle/>
          <a:p>
            <a:pPr algn="ctr" lvl="0">
              <a:lnSpc>
                <a:spcPct val="99600"/>
              </a:lnSpc>
            </a:pPr>
            <a:r>
              <a:rPr lang="en-US" sz="3729" b="false" i="false" u="none" strike="noStrik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</a:rPr>
              <a:t>OUR TECHNOLOGY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886200" y="7442200"/>
            <a:ext cx="6756400" cy="596900"/>
          </a:xfrm>
          <a:prstGeom prst="rect">
            <a:avLst/>
          </a:prstGeom>
        </p:spPr>
        <p:txBody>
          <a:bodyPr anchor="t" rtlCol="false" lIns="0" tIns="42291" rIns="0" bIns="0"/>
          <a:lstStyle/>
          <a:p>
            <a:pPr algn="l" lvl="0">
              <a:lnSpc>
                <a:spcPct val="99600"/>
              </a:lnSpc>
            </a:pPr>
            <a:r>
              <a:rPr lang="en-US" sz="3329" b="false" i="false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Scalable continuous synthesis.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882900" y="7442200"/>
            <a:ext cx="622300" cy="596900"/>
          </a:xfrm>
          <a:prstGeom prst="rect">
            <a:avLst/>
          </a:prstGeom>
        </p:spPr>
        <p:txBody>
          <a:bodyPr anchor="t" rtlCol="false" lIns="0" tIns="42291" rIns="0" bIns="0"/>
          <a:lstStyle/>
          <a:p>
            <a:pPr algn="ctr" lvl="0">
              <a:lnSpc>
                <a:spcPct val="99600"/>
              </a:lnSpc>
            </a:pPr>
            <a:r>
              <a:rPr lang="en-US" sz="3329" b="false" i="false" u="none" strike="noStrike">
                <a:solidFill>
                  <a:srgbClr val="FFFFFF"/>
                </a:solidFill>
                <a:latin typeface="Space Grotesk Regular"/>
                <a:ea typeface="Space Grotesk Regular"/>
                <a:cs typeface="Space Grotesk Regular"/>
              </a:rPr>
              <a:t>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886200" y="8763000"/>
            <a:ext cx="6756400" cy="596900"/>
          </a:xfrm>
          <a:prstGeom prst="rect">
            <a:avLst/>
          </a:prstGeom>
        </p:spPr>
        <p:txBody>
          <a:bodyPr anchor="t" rtlCol="false" lIns="0" tIns="42291" rIns="0" bIns="0"/>
          <a:lstStyle/>
          <a:p>
            <a:pPr algn="l" lvl="0">
              <a:lnSpc>
                <a:spcPct val="99600"/>
              </a:lnSpc>
            </a:pPr>
            <a:r>
              <a:rPr lang="en-US" sz="3329" b="false" i="false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Atom-level precision control.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882900" y="8763000"/>
            <a:ext cx="622300" cy="596900"/>
          </a:xfrm>
          <a:prstGeom prst="rect">
            <a:avLst/>
          </a:prstGeom>
        </p:spPr>
        <p:txBody>
          <a:bodyPr anchor="t" rtlCol="false" lIns="0" tIns="42291" rIns="0" bIns="0"/>
          <a:lstStyle/>
          <a:p>
            <a:pPr algn="ctr" lvl="0">
              <a:lnSpc>
                <a:spcPct val="99600"/>
              </a:lnSpc>
            </a:pPr>
            <a:r>
              <a:rPr lang="en-US" sz="3329" b="false" i="false" u="none" strike="noStrike">
                <a:solidFill>
                  <a:srgbClr val="FFFFFF"/>
                </a:solidFill>
                <a:latin typeface="Space Grotesk Regular"/>
                <a:ea typeface="Space Grotesk Regular"/>
                <a:cs typeface="Space Grotesk Regular"/>
              </a:rPr>
              <a:t>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886200" y="10121900"/>
            <a:ext cx="6756400" cy="596900"/>
          </a:xfrm>
          <a:prstGeom prst="rect">
            <a:avLst/>
          </a:prstGeom>
        </p:spPr>
        <p:txBody>
          <a:bodyPr anchor="t" rtlCol="false" lIns="0" tIns="42291" rIns="0" bIns="0"/>
          <a:lstStyle/>
          <a:p>
            <a:pPr algn="l" lvl="0">
              <a:lnSpc>
                <a:spcPct val="99600"/>
              </a:lnSpc>
            </a:pPr>
            <a:r>
              <a:rPr lang="en-US" sz="3329" b="false" i="false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Validated cost efficiency.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882900" y="10121900"/>
            <a:ext cx="622300" cy="596900"/>
          </a:xfrm>
          <a:prstGeom prst="rect">
            <a:avLst/>
          </a:prstGeom>
        </p:spPr>
        <p:txBody>
          <a:bodyPr anchor="t" rtlCol="false" lIns="0" tIns="42291" rIns="0" bIns="0"/>
          <a:lstStyle/>
          <a:p>
            <a:pPr algn="ctr" lvl="0">
              <a:lnSpc>
                <a:spcPct val="99600"/>
              </a:lnSpc>
            </a:pPr>
            <a:r>
              <a:rPr lang="en-US" sz="3329" b="false" i="false" u="none" strike="noStrike">
                <a:solidFill>
                  <a:srgbClr val="FFFFFF"/>
                </a:solidFill>
                <a:latin typeface="Space Grotesk Regular"/>
                <a:ea typeface="Space Grotesk Regular"/>
                <a:cs typeface="Space Grotesk Regular"/>
              </a:rPr>
              <a:t>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400300" y="11531600"/>
            <a:ext cx="8470900" cy="142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Our continuous flow reactor design ensures that the high performance achieved in the lab is perfectly replicated at industrial scale without degradation.
</a:t>
            </a:r>
          </a:p>
        </p:txBody>
      </p:sp>
      <p:pic>
        <p:nvPicPr>
          <p:cNvPr name="Picture 39" id="3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19183723">
            <a:off x="21564600" y="-2095500"/>
            <a:ext cx="6807200" cy="11569700"/>
          </a:xfrm>
          <a:prstGeom prst="rect">
            <a:avLst/>
          </a:prstGeom>
        </p:spPr>
      </p:pic>
      <p:sp>
        <p:nvSpPr>
          <p:cNvPr name="TextBox 40" id="40"/>
          <p:cNvSpPr txBox="true"/>
          <p:nvPr/>
        </p:nvSpPr>
        <p:spPr>
          <a:xfrm rot="0">
            <a:off x="762000" y="800100"/>
            <a:ext cx="55118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600" b="false" i="false" u="none" strike="noStrike" spc="300">
                <a:solidFill>
                  <a:srgbClr val="3885DD"/>
                </a:solidFill>
                <a:latin typeface="Space Grotesk Light"/>
                <a:ea typeface="Space Grotesk Light"/>
                <a:cs typeface="Space Grotesk Light"/>
              </a:rPr>
              <a:t>YOUR NAME / PRESENTATION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0053300" y="800100"/>
            <a:ext cx="35687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600" b="false" i="false" u="none" strike="noStrike" spc="300">
                <a:solidFill>
                  <a:srgbClr val="3885DD"/>
                </a:solidFill>
                <a:latin typeface="Space Grotesk Light"/>
                <a:ea typeface="Space Grotesk Light"/>
                <a:cs typeface="Space Grotesk Light"/>
              </a:rPr>
              <a:t>YOUR COMPANY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52000"/>
          </a:blip>
          <a:stretch>
            <a:fillRect/>
          </a:stretch>
        </p:blipFill>
        <p:spPr>
          <a:xfrm rot="0">
            <a:off x="14808200" y="-8077200"/>
            <a:ext cx="15925800" cy="15913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52000"/>
          </a:blip>
          <a:stretch>
            <a:fillRect/>
          </a:stretch>
        </p:blipFill>
        <p:spPr>
          <a:xfrm rot="0">
            <a:off x="-8318500" y="-2349500"/>
            <a:ext cx="15925800" cy="15913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801600" y="7493000"/>
            <a:ext cx="1765300" cy="1727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706600" y="7493000"/>
            <a:ext cx="1765300" cy="1727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598900" y="7493000"/>
            <a:ext cx="1765300" cy="1727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 rot="0">
            <a:off x="12700000" y="10629900"/>
            <a:ext cx="10261600" cy="50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>
            <a:alphaModFix amt="75000"/>
          </a:blip>
          <a:stretch>
            <a:fillRect/>
          </a:stretch>
        </p:blipFill>
        <p:spPr>
          <a:xfrm rot="0">
            <a:off x="977900" y="1816100"/>
            <a:ext cx="10617200" cy="11137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>
            <a:alphaModFix amt="30000"/>
          </a:blip>
          <a:stretch>
            <a:fillRect/>
          </a:stretch>
        </p:blipFill>
        <p:spPr>
          <a:xfrm rot="0">
            <a:off x="2552700" y="3289300"/>
            <a:ext cx="7277100" cy="7277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956300" y="3060700"/>
            <a:ext cx="482600" cy="7759700"/>
          </a:xfrm>
          <a:prstGeom prst="rect">
            <a:avLst/>
          </a:prstGeom>
          <a:effectLst>
            <a:outerShdw dir="5400000" dist="0" blurRad="129343">
              <a:srgbClr val="8DB3DF">
                <a:alpha val="50000"/>
              </a:srgbClr>
            </a:outerShdw>
          </a:effectLst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5400000">
            <a:off x="5956300" y="3060700"/>
            <a:ext cx="482600" cy="7759700"/>
          </a:xfrm>
          <a:prstGeom prst="rect">
            <a:avLst/>
          </a:prstGeom>
          <a:effectLst>
            <a:outerShdw dir="5400000" dist="0" blurRad="129343">
              <a:srgbClr val="8DB3DF">
                <a:alpha val="50000"/>
              </a:srgbClr>
            </a:outerShdw>
          </a:effectLst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858000" y="5308600"/>
            <a:ext cx="2425700" cy="596900"/>
          </a:xfrm>
          <a:prstGeom prst="rect">
            <a:avLst/>
          </a:prstGeom>
          <a:effectLst>
            <a:outerShdw dir="5400000" dist="0" blurRad="68119">
              <a:srgbClr val="3885DD">
                <a:alpha val="72000"/>
              </a:srgbClr>
            </a:outerShdw>
          </a:effectLst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3009900" y="5778500"/>
            <a:ext cx="2565400" cy="596900"/>
          </a:xfrm>
          <a:prstGeom prst="rect">
            <a:avLst/>
          </a:prstGeom>
          <a:effectLst>
            <a:outerShdw dir="5400000" dist="0" blurRad="68119">
              <a:srgbClr val="3885DD">
                <a:alpha val="72000"/>
              </a:srgbClr>
            </a:outerShdw>
          </a:effectLst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3263900" y="9067800"/>
            <a:ext cx="2311400" cy="596900"/>
          </a:xfrm>
          <a:prstGeom prst="rect">
            <a:avLst/>
          </a:prstGeom>
          <a:effectLst>
            <a:outerShdw dir="5400000" dist="0" blurRad="68119">
              <a:srgbClr val="3885DD">
                <a:alpha val="72000"/>
              </a:srgbClr>
            </a:outerShdw>
          </a:effectLst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743700" y="9271000"/>
            <a:ext cx="2540000" cy="596900"/>
          </a:xfrm>
          <a:prstGeom prst="rect">
            <a:avLst/>
          </a:prstGeom>
          <a:effectLst>
            <a:outerShdw dir="5400000" dist="0" blurRad="68119">
              <a:srgbClr val="3885DD">
                <a:alpha val="72000"/>
              </a:srgbClr>
            </a:outerShdw>
          </a:effectLst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3886200" y="3975100"/>
            <a:ext cx="1041400" cy="1625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2468053">
            <a:off x="4127500" y="7429500"/>
            <a:ext cx="850900" cy="1346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7467600" y="7632700"/>
            <a:ext cx="1041400" cy="1409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7353300" y="3606800"/>
            <a:ext cx="1435100" cy="13716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2700000" y="1816100"/>
            <a:ext cx="9182100" cy="2755900"/>
          </a:xfrm>
          <a:prstGeom prst="rect">
            <a:avLst/>
          </a:prstGeom>
        </p:spPr>
        <p:txBody>
          <a:bodyPr anchor="t" rtlCol="false" lIns="0" tIns="165163" rIns="0" bIns="0"/>
          <a:lstStyle/>
          <a:p>
            <a:pPr algn="l" lvl="0">
              <a:lnSpc>
                <a:spcPct val="91299"/>
              </a:lnSpc>
            </a:pPr>
            <a:r>
              <a:rPr lang="en-US" sz="8670" b="false" i="false" u="none" strike="noStrike">
                <a:solidFill>
                  <a:srgbClr val="FFFFFF"/>
                </a:solidFill>
                <a:latin typeface="Space Grotesk Regular"/>
                <a:ea typeface="Space Grotesk Regular"/>
                <a:cs typeface="Space Grotesk Regular"/>
              </a:rPr>
              <a:t>COMPETITIVE LANDSCAPE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700000" y="4699000"/>
            <a:ext cx="10871200" cy="177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Space Grotesk Regular"/>
                <a:ea typeface="Space Grotesk Regular"/>
                <a:cs typeface="Space Grotesk Regular"/>
              </a:rPr>
              <a:t>Our platform breaks the traditional trade-off between catalytic performance and industrial scalability, offering a clear path to mass adoption.
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700000" y="11176000"/>
            <a:ext cx="10655300" cy="142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While competitors struggle with rare metal volatility or synthesis complexity, we deliver consistent, high-yield catalysts ready for existing production lines.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700000" y="9525000"/>
            <a:ext cx="7658100" cy="5207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en-US" sz="2933" b="false" i="true" u="none" strike="noStrike">
                <a:solidFill>
                  <a:srgbClr val="3885DD"/>
                </a:solidFill>
                <a:latin typeface="Inter SemiBold"/>
                <a:ea typeface="Inter SemiBold"/>
                <a:cs typeface="Inter SemiBold"/>
              </a:rPr>
              <a:t>3 Joint Development Agreements
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213100" y="5880100"/>
            <a:ext cx="2197100" cy="393700"/>
          </a:xfrm>
          <a:prstGeom prst="rect">
            <a:avLst/>
          </a:prstGeom>
        </p:spPr>
        <p:txBody>
          <a:bodyPr anchor="t" rtlCol="false" lIns="0" tIns="28230" rIns="0" bIns="0"/>
          <a:lstStyle/>
          <a:p>
            <a:pPr algn="ctr" lvl="0">
              <a:lnSpc>
                <a:spcPct val="99600"/>
              </a:lnSpc>
            </a:pPr>
            <a:r>
              <a:rPr lang="en-US" sz="2222" b="false" i="false" u="none" strike="noStrike">
                <a:solidFill>
                  <a:srgbClr val="FFFFFF"/>
                </a:solidFill>
                <a:latin typeface="Space Grotesk Regular"/>
                <a:ea typeface="Space Grotesk Regular"/>
                <a:cs typeface="Space Grotesk Regular"/>
              </a:rPr>
              <a:t>Academic Labs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416300" y="9169400"/>
            <a:ext cx="2019300" cy="393700"/>
          </a:xfrm>
          <a:prstGeom prst="rect">
            <a:avLst/>
          </a:prstGeom>
        </p:spPr>
        <p:txBody>
          <a:bodyPr anchor="t" rtlCol="false" lIns="0" tIns="28230" rIns="0" bIns="0"/>
          <a:lstStyle/>
          <a:p>
            <a:pPr algn="ctr" lvl="0">
              <a:lnSpc>
                <a:spcPct val="99600"/>
              </a:lnSpc>
            </a:pPr>
            <a:r>
              <a:rPr lang="en-US" sz="2222" b="false" i="false" u="none" strike="noStrike">
                <a:solidFill>
                  <a:srgbClr val="FFFFFF"/>
                </a:solidFill>
                <a:latin typeface="Space Grotesk Regular"/>
                <a:ea typeface="Space Grotesk Regular"/>
                <a:cs typeface="Space Grotesk Regular"/>
              </a:rPr>
              <a:t>Noble Metals
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908800" y="9359900"/>
            <a:ext cx="2209800" cy="393700"/>
          </a:xfrm>
          <a:prstGeom prst="rect">
            <a:avLst/>
          </a:prstGeom>
        </p:spPr>
        <p:txBody>
          <a:bodyPr anchor="t" rtlCol="false" lIns="0" tIns="28230" rIns="0" bIns="0"/>
          <a:lstStyle/>
          <a:p>
            <a:pPr algn="ctr" lvl="0">
              <a:lnSpc>
                <a:spcPct val="99600"/>
              </a:lnSpc>
            </a:pPr>
            <a:r>
              <a:rPr lang="en-US" sz="2222" b="false" i="false" u="none" strike="noStrike">
                <a:solidFill>
                  <a:srgbClr val="FFFFFF"/>
                </a:solidFill>
                <a:latin typeface="Space Grotesk Regular"/>
                <a:ea typeface="Space Grotesk Regular"/>
                <a:cs typeface="Space Grotesk Regular"/>
              </a:rPr>
              <a:t>Bulk Catalysts
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972300" y="5397500"/>
            <a:ext cx="2209800" cy="393700"/>
          </a:xfrm>
          <a:prstGeom prst="rect">
            <a:avLst/>
          </a:prstGeom>
        </p:spPr>
        <p:txBody>
          <a:bodyPr anchor="t" rtlCol="false" lIns="0" tIns="28230" rIns="0" bIns="0"/>
          <a:lstStyle/>
          <a:p>
            <a:pPr algn="ctr" lvl="0">
              <a:lnSpc>
                <a:spcPct val="99600"/>
              </a:lnSpc>
            </a:pPr>
            <a:r>
              <a:rPr lang="en-US" sz="2222" b="false" i="false" u="none" strike="noStrike">
                <a:solidFill>
                  <a:srgbClr val="FFFFFF"/>
                </a:solidFill>
                <a:latin typeface="Space Grotesk Regular"/>
                <a:ea typeface="Space Grotesk Regular"/>
                <a:cs typeface="Space Grotesk Regular"/>
              </a:rPr>
              <a:t>Our System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368800" y="2451100"/>
            <a:ext cx="3873500" cy="330200"/>
          </a:xfrm>
          <a:prstGeom prst="rect">
            <a:avLst/>
          </a:prstGeom>
        </p:spPr>
        <p:txBody>
          <a:bodyPr anchor="t" rtlCol="false" lIns="0" tIns="23525" rIns="0" bIns="0"/>
          <a:lstStyle/>
          <a:p>
            <a:pPr algn="ctr" lvl="0">
              <a:lnSpc>
                <a:spcPct val="99600"/>
              </a:lnSpc>
            </a:pPr>
            <a:r>
              <a:rPr lang="en-US" sz="1852" b="false" i="false" u="none" strike="noStrike" spc="300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HIGH PERFORMANCE</a:t>
            </a:r>
          </a:p>
        </p:txBody>
      </p:sp>
      <p:sp>
        <p:nvSpPr>
          <p:cNvPr name="TextBox 31" id="31"/>
          <p:cNvSpPr txBox="true"/>
          <p:nvPr/>
        </p:nvSpPr>
        <p:spPr>
          <a:xfrm rot="5400000">
            <a:off x="8178800" y="6845300"/>
            <a:ext cx="4597400" cy="330200"/>
          </a:xfrm>
          <a:prstGeom prst="rect">
            <a:avLst/>
          </a:prstGeom>
        </p:spPr>
        <p:txBody>
          <a:bodyPr anchor="t" rtlCol="false" lIns="0" tIns="23525" rIns="0" bIns="0"/>
          <a:lstStyle/>
          <a:p>
            <a:pPr algn="ctr" lvl="0">
              <a:lnSpc>
                <a:spcPct val="99600"/>
              </a:lnSpc>
            </a:pPr>
            <a:r>
              <a:rPr lang="en-US" sz="1852" b="false" i="false" u="none" strike="noStrike" spc="300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MASS PRODUCTION READY</a:t>
            </a:r>
          </a:p>
        </p:txBody>
      </p:sp>
      <p:sp>
        <p:nvSpPr>
          <p:cNvPr name="TextBox 32" id="32"/>
          <p:cNvSpPr txBox="true"/>
          <p:nvPr/>
        </p:nvSpPr>
        <p:spPr>
          <a:xfrm rot="16200000">
            <a:off x="-406400" y="6845300"/>
            <a:ext cx="4597400" cy="330200"/>
          </a:xfrm>
          <a:prstGeom prst="rect">
            <a:avLst/>
          </a:prstGeom>
        </p:spPr>
        <p:txBody>
          <a:bodyPr anchor="t" rtlCol="false" lIns="0" tIns="23525" rIns="0" bIns="0"/>
          <a:lstStyle/>
          <a:p>
            <a:pPr algn="ctr" lvl="0">
              <a:lnSpc>
                <a:spcPct val="99600"/>
              </a:lnSpc>
            </a:pPr>
            <a:r>
              <a:rPr lang="en-US" sz="1852" b="false" i="false" u="none" strike="noStrike" spc="300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LAB SCALE/HIGH COST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254500" y="11061700"/>
            <a:ext cx="3873500" cy="330200"/>
          </a:xfrm>
          <a:prstGeom prst="rect">
            <a:avLst/>
          </a:prstGeom>
        </p:spPr>
        <p:txBody>
          <a:bodyPr anchor="t" rtlCol="false" lIns="0" tIns="23525" rIns="0" bIns="0"/>
          <a:lstStyle/>
          <a:p>
            <a:pPr algn="ctr" lvl="0">
              <a:lnSpc>
                <a:spcPct val="99600"/>
              </a:lnSpc>
            </a:pPr>
            <a:r>
              <a:rPr lang="en-US" sz="1852" b="false" i="false" u="none" strike="noStrike" spc="300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LOW PERFORMANCE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866900" y="11823700"/>
            <a:ext cx="8877300" cy="660400"/>
          </a:xfrm>
          <a:prstGeom prst="rect">
            <a:avLst/>
          </a:prstGeom>
        </p:spPr>
        <p:txBody>
          <a:bodyPr anchor="t" rtlCol="false" lIns="0" tIns="47371" rIns="0" bIns="0"/>
          <a:lstStyle/>
          <a:p>
            <a:pPr algn="ctr" lvl="0">
              <a:lnSpc>
                <a:spcPct val="99600"/>
              </a:lnSpc>
            </a:pPr>
            <a:r>
              <a:rPr lang="en-US" sz="3729" b="false" i="false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MARKET POSITIONING
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62000" y="800100"/>
            <a:ext cx="55118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600" b="false" i="false" u="none" strike="noStrike" spc="300">
                <a:solidFill>
                  <a:srgbClr val="3885DD"/>
                </a:solidFill>
                <a:latin typeface="Space Grotesk Light"/>
                <a:ea typeface="Space Grotesk Light"/>
                <a:cs typeface="Space Grotesk Light"/>
              </a:rPr>
              <a:t>YOUR NAME / PRESENTATION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0053300" y="800100"/>
            <a:ext cx="35687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600" b="false" i="false" u="none" strike="noStrike" spc="300">
                <a:solidFill>
                  <a:srgbClr val="3885DD"/>
                </a:solidFill>
                <a:latin typeface="Space Grotesk Light"/>
                <a:ea typeface="Space Grotesk Light"/>
                <a:cs typeface="Space Grotesk Light"/>
              </a:rPr>
              <a:t>YOUR COMPANY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14243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8000"/>
          </a:blip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035300" y="2032000"/>
            <a:ext cx="6692900" cy="66929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2814300" y="1765300"/>
            <a:ext cx="9918700" cy="1536700"/>
          </a:xfrm>
          <a:prstGeom prst="rect">
            <a:avLst/>
          </a:prstGeom>
        </p:spPr>
        <p:txBody>
          <a:bodyPr anchor="t" rtlCol="false" lIns="0" tIns="110109" rIns="0" bIns="0"/>
          <a:lstStyle/>
          <a:p>
            <a:pPr algn="l" lvl="0">
              <a:lnSpc>
                <a:spcPct val="99600"/>
              </a:lnSpc>
            </a:pPr>
            <a:r>
              <a:rPr lang="en-US" sz="8670" b="false" i="false" u="none" strike="noStrik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</a:rPr>
              <a:t>TARGET AUDIENCE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2000" y="800100"/>
            <a:ext cx="32766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YOUR NAME / PRESENTATION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345400" y="800100"/>
            <a:ext cx="32893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YOUR COMPANY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814300" y="3454400"/>
            <a:ext cx="10401300" cy="1231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66" b="false" i="false" u="none" strike="noStrike">
                <a:solidFill>
                  <a:srgbClr val="FFFFFF"/>
                </a:solidFill>
                <a:latin typeface="Space Grotesk Regular"/>
                <a:ea typeface="Space Grotesk Regular"/>
                <a:cs typeface="Space Grotesk Regular"/>
              </a:rPr>
              <a:t>Identifies the ideal industrial partners and decision-makers for adoption.
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14300" y="7416800"/>
            <a:ext cx="91313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Large-scale chemical manufacturers seeking efficiency.
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14300" y="6769100"/>
            <a:ext cx="7658100" cy="5207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3885DD"/>
                </a:solidFill>
                <a:latin typeface="Inter SemiBold"/>
                <a:ea typeface="Inter SemiBold"/>
                <a:cs typeface="Inter SemiBold"/>
              </a:rPr>
              <a:t>Ideal Partner 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14300" y="9182100"/>
            <a:ext cx="6883400" cy="142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Reducing noble metal production costs.</a:t>
            </a:r>
          </a:p>
          <a:p>
            <a:pPr algn="l" lvl="1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Meeting strict global ESG targets.</a:t>
            </a:r>
          </a:p>
          <a:p>
            <a:pPr algn="l" lvl="1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Ensuring scalability in mass production.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14300" y="8534400"/>
            <a:ext cx="7658100" cy="5207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3885DD"/>
                </a:solidFill>
                <a:latin typeface="Inter SemiBold"/>
                <a:ea typeface="Inter SemiBold"/>
                <a:cs typeface="Inter SemiBold"/>
              </a:rPr>
              <a:t>Key Needs  
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14300" y="11988800"/>
            <a:ext cx="68834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Retrofitting existing catalytic reactor lines.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14300" y="11341100"/>
            <a:ext cx="7658100" cy="5207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3885DD"/>
                </a:solidFill>
                <a:latin typeface="Inter SemiBold"/>
                <a:ea typeface="Inter SemiBold"/>
                <a:cs typeface="Inter SemiBold"/>
              </a:rPr>
              <a:t>Use Context  
</a:t>
            </a:r>
          </a:p>
        </p:txBody>
      </p: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1371600" y="9791700"/>
          <a:ext cx="9893300" cy="3022600"/>
        </p:xfrm>
        <a:graphic>
          <a:graphicData uri="http://schemas.openxmlformats.org/drawingml/2006/table">
            <a:tbl>
              <a:tblPr/>
              <a:tblGrid>
                <a:gridCol w="2808881"/>
                <a:gridCol w="7083265"/>
              </a:tblGrid>
              <a:tr h="764781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933" b="false" i="false" u="none" strike="noStrike">
                          <a:solidFill>
                            <a:srgbClr val="3885DD"/>
                          </a:solidFill>
                          <a:latin typeface="Space Grotesk Medium"/>
                          <a:ea typeface="Space Grotesk Medium"/>
                          <a:cs typeface="Space Grotesk Medium"/>
                        </a:rPr>
                        <a:t>Sector</a:t>
                      </a:r>
                      <a:endParaRPr lang="en-US" sz="1100"/>
                    </a:p>
                  </a:txBody>
                  <a:tcPr anchor="ctr" marL="254000" marT="80348" marR="254000" marB="80348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666" b="false" i="false" u="none" strike="noStrike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Petrochemical &amp; Energy</a:t>
                      </a:r>
                      <a:endParaRPr lang="en-US" sz="1100"/>
                    </a:p>
                  </a:txBody>
                  <a:tcPr anchor="ctr" marL="254000" marT="75353" marR="254000" marB="75353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764781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933" b="false" i="false" u="none" strike="noStrike">
                          <a:solidFill>
                            <a:srgbClr val="3885DD"/>
                          </a:solidFill>
                          <a:latin typeface="Space Grotesk Medium"/>
                          <a:ea typeface="Space Grotesk Medium"/>
                          <a:cs typeface="Space Grotesk Medium"/>
                        </a:rPr>
                        <a:t>Market</a:t>
                      </a:r>
                      <a:endParaRPr lang="en-US" sz="1100"/>
                    </a:p>
                  </a:txBody>
                  <a:tcPr anchor="ctr" marL="254000" marT="80348" marR="254000" marB="80348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666" b="false" i="false" u="none" strike="noStrike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Global Industrial Hubs</a:t>
                      </a:r>
                      <a:endParaRPr lang="en-US" sz="1100"/>
                    </a:p>
                  </a:txBody>
                  <a:tcPr anchor="ctr" marL="254000" marT="75353" marR="254000" marB="75353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736513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933" b="false" i="false" u="none" strike="noStrike">
                          <a:solidFill>
                            <a:srgbClr val="3885DD"/>
                          </a:solidFill>
                          <a:latin typeface="Space Grotesk Medium"/>
                          <a:ea typeface="Space Grotesk Medium"/>
                          <a:cs typeface="Space Grotesk Medium"/>
                        </a:rPr>
                        <a:t>Role</a:t>
                      </a:r>
                      <a:endParaRPr lang="en-US" sz="1100"/>
                    </a:p>
                  </a:txBody>
                  <a:tcPr anchor="ctr" marL="254000" marT="80348" marR="254000" marB="80348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666" b="false" i="false" u="none" strike="noStrike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CTO / R&amp;D Head</a:t>
                      </a:r>
                      <a:endParaRPr lang="en-US" sz="1100"/>
                    </a:p>
                  </a:txBody>
                  <a:tcPr anchor="ctr" marL="254000" marT="75353" marR="254000" marB="75353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754817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933" b="false" i="false" u="none" strike="noStrike">
                          <a:solidFill>
                            <a:srgbClr val="3885DD"/>
                          </a:solidFill>
                          <a:latin typeface="Space Grotesk Medium"/>
                          <a:ea typeface="Space Grotesk Medium"/>
                          <a:cs typeface="Space Grotesk Medium"/>
                        </a:rPr>
                        <a:t>Scale</a:t>
                      </a:r>
                      <a:endParaRPr lang="en-US" sz="1100"/>
                    </a:p>
                  </a:txBody>
                  <a:tcPr anchor="ctr" marL="254000" marT="80348" marR="254000" marB="80348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666" b="false" i="false" u="none" strike="noStrike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High Volume CapEx.</a:t>
                      </a:r>
                      <a:endParaRPr lang="en-US" sz="1100"/>
                    </a:p>
                  </a:txBody>
                  <a:tcPr anchor="ctr" marL="254000" marT="75353" marR="254000" marB="75353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name="Picture 15" id="1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483100" y="8420100"/>
            <a:ext cx="3937000" cy="825500"/>
          </a:xfrm>
          <a:prstGeom prst="rect">
            <a:avLst/>
          </a:prstGeom>
          <a:effectLst>
            <a:outerShdw dir="5400000" dist="0" blurRad="95454">
              <a:srgbClr val="3885DD">
                <a:alpha val="72000"/>
              </a:srgbClr>
            </a:outerShdw>
          </a:effectLst>
        </p:spPr>
      </p:pic>
      <p:sp>
        <p:nvSpPr>
          <p:cNvPr name="TextBox 16" id="16"/>
          <p:cNvSpPr txBox="true"/>
          <p:nvPr/>
        </p:nvSpPr>
        <p:spPr>
          <a:xfrm rot="0">
            <a:off x="4813300" y="8534400"/>
            <a:ext cx="3276600" cy="5969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ctr" lvl="0">
              <a:lnSpc>
                <a:spcPct val="99600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Space Grotesk Light"/>
                <a:ea typeface="Space Grotesk Light"/>
                <a:cs typeface="Space Grotesk Light"/>
              </a:rPr>
              <a:t>Partner Profile
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700000" y="5575300"/>
            <a:ext cx="4318000" cy="825500"/>
          </a:xfrm>
          <a:prstGeom prst="rect">
            <a:avLst/>
          </a:prstGeom>
          <a:effectLst>
            <a:outerShdw dir="5400000" dist="0" blurRad="95454">
              <a:srgbClr val="3885DD">
                <a:alpha val="72000"/>
              </a:srgbClr>
            </a:outerShdw>
          </a:effectLst>
        </p:spPr>
      </p:pic>
      <p:sp>
        <p:nvSpPr>
          <p:cNvPr name="TextBox 18" id="18"/>
          <p:cNvSpPr txBox="true"/>
          <p:nvPr/>
        </p:nvSpPr>
        <p:spPr>
          <a:xfrm rot="0">
            <a:off x="12979400" y="5753100"/>
            <a:ext cx="37465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</a:rPr>
              <a:t>PARTNER ANALYSIS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421629">
            <a:off x="-1104900" y="10071100"/>
            <a:ext cx="5372100" cy="5486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421629">
            <a:off x="20510500" y="3505200"/>
            <a:ext cx="4838700" cy="4953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75000"/>
          </a:blip>
          <a:stretch>
            <a:fillRect/>
          </a:stretch>
        </p:blipFill>
        <p:spPr>
          <a:xfrm rot="0">
            <a:off x="1155700" y="5283200"/>
            <a:ext cx="21958300" cy="7429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 rot="0">
            <a:off x="1727200" y="6565900"/>
            <a:ext cx="20828000" cy="50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 rot="0">
            <a:off x="1701800" y="10922000"/>
            <a:ext cx="20828000" cy="508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270000" y="1587500"/>
            <a:ext cx="7061200" cy="3175000"/>
          </a:xfrm>
          <a:prstGeom prst="rect">
            <a:avLst/>
          </a:prstGeom>
        </p:spPr>
        <p:txBody>
          <a:bodyPr anchor="t" rtlCol="false" lIns="0" tIns="190500" rIns="0" bIns="0"/>
          <a:lstStyle/>
          <a:p>
            <a:pPr algn="l" lvl="0">
              <a:lnSpc>
                <a:spcPct val="91299"/>
              </a:lnSpc>
            </a:pPr>
            <a:r>
              <a:rPr lang="en-US" sz="10000" b="false" i="false" u="none" strike="noStrik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</a:rPr>
              <a:t>SCALING ROADMAP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66600" y="1981200"/>
            <a:ext cx="103886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Space Grotesk Regular"/>
                <a:ea typeface="Space Grotesk Regular"/>
                <a:cs typeface="Space Grotesk Regular"/>
              </a:rPr>
              <a:t>Our 18-month roadmap bridges the gap between lab research and mass production.
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66600" y="3352800"/>
            <a:ext cx="9728200" cy="952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This schedule outlines critical milestones to de-risk technology and prove scalability to partners.
</a:t>
            </a:r>
          </a:p>
        </p:txBody>
      </p: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1727200" y="5562600"/>
          <a:ext cx="20802600" cy="5080000"/>
        </p:xfrm>
        <a:graphic>
          <a:graphicData uri="http://schemas.openxmlformats.org/drawingml/2006/table">
            <a:tbl>
              <a:tblPr/>
              <a:tblGrid>
                <a:gridCol w="5200073"/>
                <a:gridCol w="5200073"/>
                <a:gridCol w="5200073"/>
                <a:gridCol w="5200073"/>
              </a:tblGrid>
              <a:tr h="1028700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367" b="false" i="false" u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ctr" marL="254000" marT="69756" marR="254000" marB="69756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933" b="false" i="false" u="none" strike="noStrike">
                          <a:solidFill>
                            <a:srgbClr val="3885DD"/>
                          </a:solidFill>
                          <a:latin typeface="Inter Bold"/>
                          <a:ea typeface="Inter Bold"/>
                          <a:cs typeface="Inter Bold"/>
                        </a:rPr>
                        <a:t>FOCUS</a:t>
                      </a:r>
                      <a:endParaRPr lang="en-US" sz="1100"/>
                    </a:p>
                  </a:txBody>
                  <a:tcPr anchor="ctr" marL="254000" marT="80348" marR="254000" marB="80348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933" b="false" i="false" u="none" strike="noStrike">
                          <a:solidFill>
                            <a:srgbClr val="3885DD"/>
                          </a:solidFill>
                          <a:latin typeface="Inter Bold"/>
                          <a:ea typeface="Inter Bold"/>
                          <a:cs typeface="Inter Bold"/>
                        </a:rPr>
                        <a:t>ACTION</a:t>
                      </a:r>
                      <a:endParaRPr lang="en-US" sz="1100"/>
                    </a:p>
                  </a:txBody>
                  <a:tcPr anchor="ctr" marL="254000" marT="80348" marR="254000" marB="80348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933" b="false" i="false" u="none" strike="noStrike">
                          <a:solidFill>
                            <a:srgbClr val="3885DD"/>
                          </a:solidFill>
                          <a:latin typeface="Inter Bold"/>
                          <a:ea typeface="Inter Bold"/>
                          <a:cs typeface="Inter Bold"/>
                        </a:rPr>
                        <a:t>RESULT</a:t>
                      </a:r>
                      <a:endParaRPr lang="en-US" sz="1100"/>
                    </a:p>
                  </a:txBody>
                  <a:tcPr anchor="ctr" marL="254000" marT="80348" marR="254000" marB="80348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666" b="false" i="false" u="none" strike="noStrike">
                          <a:solidFill>
                            <a:srgbClr val="3885DD"/>
                          </a:solidFill>
                          <a:latin typeface="Inter Bold"/>
                          <a:ea typeface="Inter Bold"/>
                          <a:cs typeface="Inter Bold"/>
                        </a:rPr>
                        <a:t>Phase 01</a:t>
                      </a:r>
                      <a:endParaRPr lang="en-US" sz="1100"/>
                    </a:p>
                  </a:txBody>
                  <a:tcPr anchor="ctr" marL="254000" marT="75353" marR="254000" marB="75353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666" b="false" i="false" u="none" strike="noStrike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Pilot validation step</a:t>
                      </a:r>
                      <a:endParaRPr lang="en-US" sz="1100"/>
                    </a:p>
                  </a:txBody>
                  <a:tcPr anchor="ctr" marL="254000" marT="75353" marR="254000" marB="75353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666" b="false" i="false" u="none" strike="noStrike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Pilot validation step</a:t>
                      </a:r>
                      <a:endParaRPr lang="en-US" sz="1100"/>
                    </a:p>
                  </a:txBody>
                  <a:tcPr anchor="ctr" marL="254000" marT="75353" marR="254000" marB="75353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666" b="false" i="false" u="none" strike="noStrike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Pilot validation step</a:t>
                      </a:r>
                      <a:endParaRPr lang="en-US" sz="1100"/>
                    </a:p>
                  </a:txBody>
                  <a:tcPr anchor="ctr" marL="254000" marT="75353" marR="254000" marB="75353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990678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666" b="false" i="false" u="none" strike="noStrike">
                          <a:solidFill>
                            <a:srgbClr val="3885DD"/>
                          </a:solidFill>
                          <a:latin typeface="Inter Bold"/>
                          <a:ea typeface="Inter Bold"/>
                          <a:cs typeface="Inter Bold"/>
                        </a:rPr>
                        <a:t>Phase 02</a:t>
                      </a:r>
                      <a:endParaRPr lang="en-US" sz="1100"/>
                    </a:p>
                  </a:txBody>
                  <a:tcPr anchor="ctr" marL="254000" marT="75353" marR="254000" marB="75353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666" b="false" i="false" u="none" strike="noStrike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Pilot validation step</a:t>
                      </a:r>
                      <a:endParaRPr lang="en-US" sz="1100"/>
                    </a:p>
                  </a:txBody>
                  <a:tcPr anchor="ctr" marL="254000" marT="75353" marR="254000" marB="75353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666" b="false" i="false" u="none" strike="noStrike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Pilot validation step</a:t>
                      </a:r>
                      <a:endParaRPr lang="en-US" sz="1100"/>
                    </a:p>
                  </a:txBody>
                  <a:tcPr anchor="ctr" marL="254000" marT="75353" marR="254000" marB="75353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666" b="false" i="false" u="none" strike="noStrike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Pilot validation step</a:t>
                      </a:r>
                      <a:endParaRPr lang="en-US" sz="1100"/>
                    </a:p>
                  </a:txBody>
                  <a:tcPr anchor="ctr" marL="254000" marT="75353" marR="254000" marB="75353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015298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666" b="false" i="false" u="none" strike="noStrike">
                          <a:solidFill>
                            <a:srgbClr val="3885DD"/>
                          </a:solidFill>
                          <a:latin typeface="Inter Bold"/>
                          <a:ea typeface="Inter Bold"/>
                          <a:cs typeface="Inter Bold"/>
                        </a:rPr>
                        <a:t>Phase 03</a:t>
                      </a:r>
                      <a:endParaRPr lang="en-US" sz="1100"/>
                    </a:p>
                  </a:txBody>
                  <a:tcPr anchor="ctr" marL="254000" marT="75353" marR="254000" marB="75353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666" b="false" i="false" u="none" strike="noStrike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Pilot validation step</a:t>
                      </a:r>
                      <a:endParaRPr lang="en-US" sz="1100"/>
                    </a:p>
                  </a:txBody>
                  <a:tcPr anchor="ctr" marL="254000" marT="75353" marR="254000" marB="75353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666" b="false" i="false" u="none" strike="noStrike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Pilot validation step</a:t>
                      </a:r>
                      <a:endParaRPr lang="en-US" sz="1100"/>
                    </a:p>
                  </a:txBody>
                  <a:tcPr anchor="ctr" marL="254000" marT="75353" marR="254000" marB="75353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666" b="false" i="false" u="none" strike="noStrike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Pilot validation step</a:t>
                      </a:r>
                      <a:endParaRPr lang="en-US" sz="1100"/>
                    </a:p>
                  </a:txBody>
                  <a:tcPr anchor="ctr" marL="254000" marT="75353" marR="254000" marB="75353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015298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666" b="false" i="false" u="none" strike="noStrike">
                          <a:solidFill>
                            <a:srgbClr val="3885DD"/>
                          </a:solidFill>
                          <a:latin typeface="Inter Bold"/>
                          <a:ea typeface="Inter Bold"/>
                          <a:cs typeface="Inter Bold"/>
                        </a:rPr>
                        <a:t>Phase 04</a:t>
                      </a:r>
                      <a:endParaRPr lang="en-US" sz="1100"/>
                    </a:p>
                  </a:txBody>
                  <a:tcPr anchor="ctr" marL="254000" marT="75353" marR="254000" marB="75353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666" b="false" i="false" u="none" strike="noStrike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Pilot validation step</a:t>
                      </a:r>
                      <a:endParaRPr lang="en-US" sz="1100"/>
                    </a:p>
                  </a:txBody>
                  <a:tcPr anchor="ctr" marL="254000" marT="75353" marR="254000" marB="75353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666" b="false" i="false" u="none" strike="noStrike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Pilot validation step</a:t>
                      </a:r>
                      <a:endParaRPr lang="en-US" sz="1100"/>
                    </a:p>
                  </a:txBody>
                  <a:tcPr anchor="ctr" marL="254000" marT="75353" marR="254000" marB="75353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2666" b="false" i="false" u="none" strike="noStrike">
                          <a:solidFill>
                            <a:srgbClr val="FFFFFF"/>
                          </a:solidFill>
                          <a:latin typeface="Inter Light"/>
                          <a:ea typeface="Inter Light"/>
                          <a:cs typeface="Inter Light"/>
                        </a:rPr>
                        <a:t>Pilot validation step</a:t>
                      </a:r>
                      <a:endParaRPr lang="en-US" sz="1100"/>
                    </a:p>
                  </a:txBody>
                  <a:tcPr anchor="ctr" marL="254000" marT="75353" marR="254000" marB="75353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TextBox 13" id="13"/>
          <p:cNvSpPr txBox="true"/>
          <p:nvPr/>
        </p:nvSpPr>
        <p:spPr>
          <a:xfrm rot="0">
            <a:off x="7950200" y="11480800"/>
            <a:ext cx="133604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Execution focuses on meeting industrial partner standards for immediate adoption.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75000" y="11455400"/>
            <a:ext cx="4660900" cy="5207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3885DD"/>
                </a:solidFill>
                <a:latin typeface="Inter SemiBold"/>
                <a:ea typeface="Inter SemiBold"/>
                <a:cs typeface="Inter SemiBold"/>
              </a:rPr>
              <a:t>MILESTONE STRATEGY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2000" y="800100"/>
            <a:ext cx="55118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600" b="false" i="false" u="none" strike="noStrike" spc="300">
                <a:solidFill>
                  <a:srgbClr val="3885DD"/>
                </a:solidFill>
                <a:latin typeface="Space Grotesk Light"/>
                <a:ea typeface="Space Grotesk Light"/>
                <a:cs typeface="Space Grotesk Light"/>
              </a:rPr>
              <a:t>YOUR NAME / PRESENTATION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015200" y="800100"/>
            <a:ext cx="36449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600" b="false" i="false" u="none" strike="noStrike" spc="300">
                <a:solidFill>
                  <a:srgbClr val="3885DD"/>
                </a:solidFill>
                <a:latin typeface="Space Grotesk Light"/>
                <a:ea typeface="Space Grotesk Light"/>
                <a:cs typeface="Space Grotesk Light"/>
              </a:rPr>
              <a:t>YOUR COMPANY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525500" y="-444500"/>
            <a:ext cx="11493500" cy="14605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0" y="-25400"/>
            <a:ext cx="13995400" cy="13716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0">
            <a:off x="1003300" y="1778000"/>
            <a:ext cx="5092700" cy="3136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rot="0">
            <a:off x="8128000" y="5765800"/>
            <a:ext cx="5092700" cy="313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00100" y="3873500"/>
            <a:ext cx="5486400" cy="105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924800" y="7861300"/>
            <a:ext cx="5486400" cy="1054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0">
            <a:off x="1003300" y="9690100"/>
            <a:ext cx="5092700" cy="3136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alphaModFix amt="70000"/>
          </a:blip>
          <a:stretch>
            <a:fillRect/>
          </a:stretch>
        </p:blipFill>
        <p:spPr>
          <a:xfrm rot="0">
            <a:off x="762000" y="11925300"/>
            <a:ext cx="5486400" cy="800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387600" y="2197100"/>
            <a:ext cx="2311400" cy="2298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20103147">
            <a:off x="9220200" y="6057900"/>
            <a:ext cx="2908300" cy="25654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5049500" y="1714500"/>
            <a:ext cx="8382000" cy="3390900"/>
          </a:xfrm>
          <a:prstGeom prst="rect">
            <a:avLst/>
          </a:prstGeom>
        </p:spPr>
        <p:txBody>
          <a:bodyPr anchor="t" rtlCol="false" lIns="0" tIns="250349" rIns="0" bIns="0"/>
          <a:lstStyle/>
          <a:p>
            <a:pPr algn="l" lvl="0">
              <a:lnSpc>
                <a:spcPct val="86320"/>
              </a:lnSpc>
            </a:pPr>
            <a:r>
              <a:rPr lang="en-US" sz="10951" b="false" i="false" u="none" strike="noStrike">
                <a:solidFill>
                  <a:srgbClr val="FFFFFF"/>
                </a:solidFill>
                <a:latin typeface="Space Grotesk Regular"/>
                <a:ea typeface="Space Grotesk Regular"/>
                <a:cs typeface="Space Grotesk Regular"/>
              </a:rPr>
              <a:t>EXTERNAL</a:t>
            </a:r>
          </a:p>
          <a:p>
            <a:pPr algn="l" lvl="0">
              <a:lnSpc>
                <a:spcPct val="86320"/>
              </a:lnSpc>
            </a:pPr>
            <a:r>
              <a:rPr lang="en-US" sz="10951" b="false" i="false" u="none" strike="noStrike">
                <a:solidFill>
                  <a:srgbClr val="FFFFFF"/>
                </a:solidFill>
                <a:latin typeface="Space Grotesk Regular"/>
                <a:ea typeface="Space Grotesk Regular"/>
                <a:cs typeface="Space Grotesk Regular"/>
              </a:rPr>
              <a:t>COLLAB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049500" y="8902700"/>
            <a:ext cx="7899400" cy="177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Space Grotesk Regular"/>
                <a:ea typeface="Space Grotesk Regular"/>
                <a:cs typeface="Space Grotesk Regular"/>
              </a:rPr>
              <a:t>We offer flexible engagement models designed to align with your strategic roadmap.
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049500" y="11010900"/>
            <a:ext cx="7861300" cy="142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From initial Proof of Concept to full commercial rollout, we structure partnerships that minimize risk and accelerate industrial integration.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43700" y="2806700"/>
            <a:ext cx="6883400" cy="189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Collaborate to optimize catalyst performance specifications for your unique feedstocks and reaction environments.
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743700" y="10871200"/>
            <a:ext cx="6121400" cy="142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Receive stable, high-purity catalyst shipments directly from our pilot foundry for mass production.
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7300" y="6832600"/>
            <a:ext cx="6172200" cy="142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Transfer proprietary synthesis protocols and IP rights for your internal manufacturing capabilities.
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43700" y="2159000"/>
            <a:ext cx="7670800" cy="5969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l" lvl="0">
              <a:lnSpc>
                <a:spcPct val="99600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Space Grotesk Regular"/>
                <a:ea typeface="Space Grotesk Regular"/>
                <a:cs typeface="Space Grotesk Regular"/>
              </a:rPr>
              <a:t>JOINT R&amp;D POC</a:t>
            </a:r>
            <a:r>
              <a:rPr lang="en-US" sz="3333" b="false" i="false" u="none" strike="noStrike">
                <a:solidFill>
                  <a:srgbClr val="3885DD"/>
                </a:solidFill>
                <a:latin typeface="Space Grotesk Regular"/>
                <a:ea typeface="Space Grotesk Regular"/>
                <a:cs typeface="Space Grotesk Regular"/>
              </a:rPr>
              <a:t>  
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43700" y="10223500"/>
            <a:ext cx="7670800" cy="5969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l" lvl="0">
              <a:lnSpc>
                <a:spcPct val="99600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Space Grotesk Regular"/>
                <a:ea typeface="Space Grotesk Regular"/>
                <a:cs typeface="Space Grotesk Regular"/>
              </a:rPr>
              <a:t>DIRECT SUPPLY  
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7300" y="6184900"/>
            <a:ext cx="5994400" cy="5969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l" lvl="0">
              <a:lnSpc>
                <a:spcPct val="99600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Space Grotesk Regular"/>
                <a:ea typeface="Space Grotesk Regular"/>
                <a:cs typeface="Space Grotesk Regular"/>
              </a:rPr>
              <a:t>TECH LICENSING  
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400300" y="10020300"/>
            <a:ext cx="2133600" cy="23368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762000" y="800100"/>
            <a:ext cx="55118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600" b="false" i="false" u="none" strike="noStrike" spc="300">
                <a:solidFill>
                  <a:srgbClr val="3885DD"/>
                </a:solidFill>
                <a:latin typeface="Space Grotesk Light"/>
                <a:ea typeface="Space Grotesk Light"/>
                <a:cs typeface="Space Grotesk Light"/>
              </a:rPr>
              <a:t>YOUR NAME / PRESENTATION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015200" y="800100"/>
            <a:ext cx="36449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600" b="false" i="false" u="none" strike="noStrike" spc="300">
                <a:solidFill>
                  <a:srgbClr val="3885DD"/>
                </a:solidFill>
                <a:latin typeface="Space Grotesk Light"/>
                <a:ea typeface="Space Grotesk Light"/>
                <a:cs typeface="Space Grotesk Light"/>
              </a:rPr>
              <a:t>YOUR COMPANY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9013170">
            <a:off x="-1384300" y="9994900"/>
            <a:ext cx="3962400" cy="6743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2021017">
            <a:off x="23558500" y="-1447800"/>
            <a:ext cx="3606800" cy="6134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75000"/>
          </a:blip>
          <a:stretch>
            <a:fillRect/>
          </a:stretch>
        </p:blipFill>
        <p:spPr>
          <a:xfrm rot="0">
            <a:off x="1435100" y="4445000"/>
            <a:ext cx="5041900" cy="10439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75000"/>
          </a:blip>
          <a:stretch>
            <a:fillRect/>
          </a:stretch>
        </p:blipFill>
        <p:spPr>
          <a:xfrm rot="0">
            <a:off x="6934200" y="4445000"/>
            <a:ext cx="5041900" cy="10439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alphaModFix amt="75000"/>
          </a:blip>
          <a:stretch>
            <a:fillRect/>
          </a:stretch>
        </p:blipFill>
        <p:spPr>
          <a:xfrm rot="0">
            <a:off x="12420600" y="4445000"/>
            <a:ext cx="5041900" cy="10439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alphaModFix amt="75000"/>
          </a:blip>
          <a:stretch>
            <a:fillRect/>
          </a:stretch>
        </p:blipFill>
        <p:spPr>
          <a:xfrm rot="0">
            <a:off x="17907000" y="4445000"/>
            <a:ext cx="5041900" cy="10439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816100" y="4902200"/>
            <a:ext cx="4318000" cy="2654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854200" y="9690100"/>
            <a:ext cx="4127500" cy="25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866900" y="12077700"/>
            <a:ext cx="4114800" cy="787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340600" y="4902200"/>
            <a:ext cx="4318000" cy="2654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378700" y="9690100"/>
            <a:ext cx="4127500" cy="25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391400" y="12077700"/>
            <a:ext cx="4114800" cy="787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827000" y="4902200"/>
            <a:ext cx="4318000" cy="2654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865100" y="9690100"/>
            <a:ext cx="4127500" cy="25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2877800" y="12077700"/>
            <a:ext cx="4114800" cy="7874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8313400" y="4902200"/>
            <a:ext cx="4318000" cy="2654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8351500" y="9690100"/>
            <a:ext cx="4127500" cy="254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8364200" y="12077700"/>
            <a:ext cx="4114800" cy="787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6">
            <a:alphaModFix amt="67000"/>
          </a:blip>
          <a:stretch>
            <a:fillRect/>
          </a:stretch>
        </p:blipFill>
        <p:spPr>
          <a:xfrm rot="0">
            <a:off x="1231900" y="6413500"/>
            <a:ext cx="5486400" cy="12319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6">
            <a:alphaModFix amt="67000"/>
          </a:blip>
          <a:stretch>
            <a:fillRect/>
          </a:stretch>
        </p:blipFill>
        <p:spPr>
          <a:xfrm rot="0">
            <a:off x="6756400" y="6413500"/>
            <a:ext cx="5486400" cy="12319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3048000" y="5168900"/>
            <a:ext cx="1828800" cy="2108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6">
            <a:alphaModFix amt="67000"/>
          </a:blip>
          <a:stretch>
            <a:fillRect/>
          </a:stretch>
        </p:blipFill>
        <p:spPr>
          <a:xfrm rot="0">
            <a:off x="12179300" y="6413500"/>
            <a:ext cx="5486400" cy="12319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8623300" y="5257800"/>
            <a:ext cx="1879600" cy="18669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6">
            <a:alphaModFix amt="67000"/>
          </a:blip>
          <a:stretch>
            <a:fillRect/>
          </a:stretch>
        </p:blipFill>
        <p:spPr>
          <a:xfrm rot="0">
            <a:off x="17729200" y="6413500"/>
            <a:ext cx="5486400" cy="1231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3970000" y="5130800"/>
            <a:ext cx="2044700" cy="20574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9431000" y="5105400"/>
            <a:ext cx="2082800" cy="21844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5486400" y="1524000"/>
            <a:ext cx="13411200" cy="1663700"/>
          </a:xfrm>
          <a:prstGeom prst="rect">
            <a:avLst/>
          </a:prstGeom>
        </p:spPr>
        <p:txBody>
          <a:bodyPr anchor="t" rtlCol="false" lIns="0" tIns="118533" rIns="0" bIns="0"/>
          <a:lstStyle/>
          <a:p>
            <a:pPr algn="ctr" lvl="0">
              <a:lnSpc>
                <a:spcPct val="99600"/>
              </a:lnSpc>
            </a:pPr>
            <a:r>
              <a:rPr lang="en-US" sz="9333" b="false" i="false" u="none" strike="noStrike">
                <a:solidFill>
                  <a:srgbClr val="FFFFFF"/>
                </a:solidFill>
                <a:latin typeface="Space Grotesk Regular"/>
                <a:ea typeface="Space Grotesk Regular"/>
                <a:cs typeface="Space Grotesk Regular"/>
              </a:rPr>
              <a:t>ENGAGEMENT MODELS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238500" y="3162300"/>
            <a:ext cx="178943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Structured commercial tiers scaling from initial validation to mass production.
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816100" y="9131300"/>
            <a:ext cx="28829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6" b="false" i="false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VALIDATION KIT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854200" y="7924800"/>
            <a:ext cx="3556000" cy="1181100"/>
          </a:xfrm>
          <a:prstGeom prst="rect">
            <a:avLst/>
          </a:prstGeom>
        </p:spPr>
        <p:txBody>
          <a:bodyPr anchor="t" rtlCol="false" lIns="0" tIns="84667" rIns="0" bIns="0"/>
          <a:lstStyle/>
          <a:p>
            <a:pPr algn="l" lvl="0">
              <a:lnSpc>
                <a:spcPct val="99600"/>
              </a:lnSpc>
            </a:pPr>
            <a:r>
              <a:rPr lang="en-US" sz="6666" b="false" i="false" u="none" strike="noStrik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</a:rPr>
              <a:t>$5k+
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816100" y="9982200"/>
            <a:ext cx="4254500" cy="170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Standard sample package for initial lab-scale performance screening and feasibility testing.
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12900" y="12268200"/>
            <a:ext cx="463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66" b="false" i="false" u="none" strike="noStrike" spc="400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REQUEST SAMPLE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340600" y="9131300"/>
            <a:ext cx="28829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6" b="false" i="false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VALIDATION KIT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378700" y="7924800"/>
            <a:ext cx="3733800" cy="1181100"/>
          </a:xfrm>
          <a:prstGeom prst="rect">
            <a:avLst/>
          </a:prstGeom>
        </p:spPr>
        <p:txBody>
          <a:bodyPr anchor="t" rtlCol="false" lIns="0" tIns="84667" rIns="0" bIns="0"/>
          <a:lstStyle/>
          <a:p>
            <a:pPr algn="l" lvl="0">
              <a:lnSpc>
                <a:spcPct val="99600"/>
              </a:lnSpc>
            </a:pPr>
            <a:r>
              <a:rPr lang="en-US" sz="6666" b="false" i="false" u="none" strike="noStrik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</a:rPr>
              <a:t>$10k+
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340600" y="9982200"/>
            <a:ext cx="4254500" cy="170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Standard sample package for initial lab-scale performance screening and feasibility testing.
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137400" y="12268200"/>
            <a:ext cx="463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66" b="false" i="false" u="none" strike="noStrike" spc="400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REQUEST SAMPLE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827000" y="9131300"/>
            <a:ext cx="28829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6" b="false" i="false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VALIDATION KIT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865100" y="7924800"/>
            <a:ext cx="3403600" cy="1181100"/>
          </a:xfrm>
          <a:prstGeom prst="rect">
            <a:avLst/>
          </a:prstGeom>
        </p:spPr>
        <p:txBody>
          <a:bodyPr anchor="t" rtlCol="false" lIns="0" tIns="84667" rIns="0" bIns="0"/>
          <a:lstStyle/>
          <a:p>
            <a:pPr algn="l" lvl="0">
              <a:lnSpc>
                <a:spcPct val="99600"/>
              </a:lnSpc>
            </a:pPr>
            <a:r>
              <a:rPr lang="en-US" sz="6666" b="false" i="false" u="none" strike="noStrik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</a:rPr>
              <a:t>$15k+
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827000" y="9982200"/>
            <a:ext cx="4254500" cy="170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Standard sample package for initial lab-scale performance screening and feasibility testing.
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623800" y="12268200"/>
            <a:ext cx="463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66" b="false" i="false" u="none" strike="noStrike" spc="400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REQUEST SAMPLE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8313400" y="9131300"/>
            <a:ext cx="28829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66" b="false" i="false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VALIDATION KIT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8351500" y="7924800"/>
            <a:ext cx="3416300" cy="1181100"/>
          </a:xfrm>
          <a:prstGeom prst="rect">
            <a:avLst/>
          </a:prstGeom>
        </p:spPr>
        <p:txBody>
          <a:bodyPr anchor="t" rtlCol="false" lIns="0" tIns="84667" rIns="0" bIns="0"/>
          <a:lstStyle/>
          <a:p>
            <a:pPr algn="l" lvl="0">
              <a:lnSpc>
                <a:spcPct val="99600"/>
              </a:lnSpc>
            </a:pPr>
            <a:r>
              <a:rPr lang="en-US" sz="6666" b="false" i="false" u="none" strike="noStrik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</a:rPr>
              <a:t>$20k+
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8313400" y="9982200"/>
            <a:ext cx="4254500" cy="170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Standard sample package for initial lab-scale performance screening and feasibility testing.
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8110200" y="12268200"/>
            <a:ext cx="46355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66" b="false" i="false" u="none" strike="noStrike" spc="400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REQUEST SAMPLE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62000" y="800100"/>
            <a:ext cx="55118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600" b="false" i="false" u="none" strike="noStrike" spc="300">
                <a:solidFill>
                  <a:srgbClr val="3885DD"/>
                </a:solidFill>
                <a:latin typeface="Space Grotesk Light"/>
                <a:ea typeface="Space Grotesk Light"/>
                <a:cs typeface="Space Grotesk Light"/>
              </a:rPr>
              <a:t>YOUR NAME / PRESENTATION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0053300" y="800100"/>
            <a:ext cx="35687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600" b="false" i="false" u="none" strike="noStrike" spc="300">
                <a:solidFill>
                  <a:srgbClr val="3885DD"/>
                </a:solidFill>
                <a:latin typeface="Space Grotesk Light"/>
                <a:ea typeface="Space Grotesk Light"/>
                <a:cs typeface="Space Grotesk Light"/>
              </a:rPr>
              <a:t>YOUR COMPANY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-127000"/>
            <a:ext cx="25006300" cy="14058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rot="0">
            <a:off x="9563100" y="-177800"/>
            <a:ext cx="15443200" cy="14516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426700" y="1778000"/>
            <a:ext cx="4114800" cy="5321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75000"/>
          </a:blip>
          <a:stretch>
            <a:fillRect/>
          </a:stretch>
        </p:blipFill>
        <p:spPr>
          <a:xfrm rot="0">
            <a:off x="14922500" y="1778000"/>
            <a:ext cx="4114800" cy="5321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431000" y="1778000"/>
            <a:ext cx="4114800" cy="5321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alphaModFix amt="75000"/>
          </a:blip>
          <a:stretch>
            <a:fillRect/>
          </a:stretch>
        </p:blipFill>
        <p:spPr>
          <a:xfrm rot="0">
            <a:off x="10426700" y="7442200"/>
            <a:ext cx="4114800" cy="5321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922500" y="7442200"/>
            <a:ext cx="4114800" cy="5321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>
            <a:alphaModFix amt="75000"/>
          </a:blip>
          <a:stretch>
            <a:fillRect/>
          </a:stretch>
        </p:blipFill>
        <p:spPr>
          <a:xfrm rot="0">
            <a:off x="19431000" y="7442200"/>
            <a:ext cx="4114800" cy="5321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277600" y="2159000"/>
            <a:ext cx="2273300" cy="2273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836900" y="2159000"/>
            <a:ext cx="2273300" cy="2273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0370800" y="2159000"/>
            <a:ext cx="2273300" cy="2273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836900" y="7785100"/>
            <a:ext cx="2273300" cy="2273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1341100" y="7785100"/>
            <a:ext cx="2273300" cy="2273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0281900" y="7785100"/>
            <a:ext cx="2273300" cy="22733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295400" y="2159000"/>
            <a:ext cx="8140700" cy="3302000"/>
          </a:xfrm>
          <a:prstGeom prst="rect">
            <a:avLst/>
          </a:prstGeom>
        </p:spPr>
        <p:txBody>
          <a:bodyPr anchor="t" rtlCol="false" lIns="0" tIns="127000" rIns="0" bIns="0"/>
          <a:lstStyle/>
          <a:p>
            <a:pPr algn="l" lvl="0">
              <a:lnSpc>
                <a:spcPct val="99600"/>
              </a:lnSpc>
            </a:pPr>
            <a:r>
              <a:rPr lang="en-US" sz="9999" b="false" i="false" u="none" strike="noStrike">
                <a:solidFill>
                  <a:srgbClr val="FFFFFF"/>
                </a:solidFill>
                <a:latin typeface="Space Grotesk Regular"/>
                <a:ea typeface="Space Grotesk Regular"/>
                <a:cs typeface="Space Grotesk Regular"/>
              </a:rPr>
              <a:t>LEADERSHIP TEAM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2000" y="800100"/>
            <a:ext cx="55118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600" b="false" i="false" u="none" strike="noStrike" spc="300">
                <a:solidFill>
                  <a:srgbClr val="3885DD"/>
                </a:solidFill>
                <a:latin typeface="Space Grotesk Light"/>
                <a:ea typeface="Space Grotesk Light"/>
                <a:cs typeface="Space Grotesk Light"/>
              </a:rPr>
              <a:t>YOUR NAME / PRESENTATION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015200" y="800100"/>
            <a:ext cx="36449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600" b="false" i="false" u="none" strike="noStrike" spc="300">
                <a:solidFill>
                  <a:srgbClr val="3885DD"/>
                </a:solidFill>
                <a:latin typeface="Space Grotesk Light"/>
                <a:ea typeface="Space Grotesk Light"/>
                <a:cs typeface="Space Grotesk Light"/>
              </a:rPr>
              <a:t>YOUR COMPANY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5400" y="8509000"/>
            <a:ext cx="7670800" cy="1282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599" b="false" i="false" u="none" strike="noStrike">
                <a:solidFill>
                  <a:srgbClr val="FFFFFF"/>
                </a:solidFill>
                <a:latin typeface="Space Grotesk Regular"/>
                <a:ea typeface="Space Grotesk Regular"/>
                <a:cs typeface="Space Grotesk Regular"/>
              </a:rPr>
              <a:t>Bridging the gap between deep science and industrial scale.
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5400" y="10096500"/>
            <a:ext cx="7861300" cy="2374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We are more than researchers. Our multidisciplinary team unites PhD-level material scientists with veteran process engineers to ensure every innovation is reproducible, scalable, and commercially viable.
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985500" y="4711700"/>
            <a:ext cx="28702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3C638F"/>
                </a:solidFill>
                <a:latin typeface="Inter Bold"/>
                <a:ea typeface="Inter Bold"/>
                <a:cs typeface="Inter Bold"/>
              </a:rPr>
              <a:t>ROLE/EXPERTISE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604500" y="5715000"/>
            <a:ext cx="3632200" cy="1079500"/>
          </a:xfrm>
          <a:prstGeom prst="rect">
            <a:avLst/>
          </a:prstGeom>
        </p:spPr>
        <p:txBody>
          <a:bodyPr anchor="t" rtlCol="false" lIns="0" tIns="13547" rIns="0" bIns="0"/>
          <a:lstStyle/>
          <a:p>
            <a:pPr algn="ctr" lvl="0">
              <a:lnSpc>
                <a:spcPct val="107899"/>
              </a:lnSpc>
            </a:pPr>
            <a:r>
              <a:rPr lang="en-US" sz="2133" b="false" i="false" u="none" strike="noStrike">
                <a:solidFill>
                  <a:srgbClr val="142436"/>
                </a:solidFill>
                <a:latin typeface="Inter Light"/>
                <a:ea typeface="Inter Light"/>
                <a:cs typeface="Inter Light"/>
              </a:rPr>
              <a:t>Proven track record in catalyst synthesis &amp; pilot plant operations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61600" y="5143500"/>
            <a:ext cx="4330700" cy="469900"/>
          </a:xfrm>
          <a:prstGeom prst="rect">
            <a:avLst/>
          </a:prstGeom>
        </p:spPr>
        <p:txBody>
          <a:bodyPr anchor="t" rtlCol="false" lIns="0" tIns="33867" rIns="0" bIns="0"/>
          <a:lstStyle/>
          <a:p>
            <a:pPr algn="ctr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142436"/>
                </a:solidFill>
                <a:latin typeface="Inter ExtraBold"/>
                <a:ea typeface="Inter ExtraBold"/>
                <a:cs typeface="Inter ExtraBold"/>
              </a:rPr>
              <a:t>Dr. Expert Member
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544800" y="4711700"/>
            <a:ext cx="28702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ROLE/EXPERTISE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163800" y="5715000"/>
            <a:ext cx="3632200" cy="1079500"/>
          </a:xfrm>
          <a:prstGeom prst="rect">
            <a:avLst/>
          </a:prstGeom>
        </p:spPr>
        <p:txBody>
          <a:bodyPr anchor="t" rtlCol="false" lIns="0" tIns="13547" rIns="0" bIns="0"/>
          <a:lstStyle/>
          <a:p>
            <a:pPr algn="ctr" lvl="0">
              <a:lnSpc>
                <a:spcPct val="107899"/>
              </a:lnSpc>
            </a:pPr>
            <a:r>
              <a:rPr lang="en-US" sz="2133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Proven track record in catalyst synthesis &amp; pilot plant operations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820900" y="5143500"/>
            <a:ext cx="4330700" cy="469900"/>
          </a:xfrm>
          <a:prstGeom prst="rect">
            <a:avLst/>
          </a:prstGeom>
        </p:spPr>
        <p:txBody>
          <a:bodyPr anchor="t" rtlCol="false" lIns="0" tIns="33867" rIns="0" bIns="0"/>
          <a:lstStyle/>
          <a:p>
            <a:pPr algn="ctr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3885DD"/>
                </a:solidFill>
                <a:latin typeface="Inter ExtraBold"/>
                <a:ea typeface="Inter ExtraBold"/>
                <a:cs typeface="Inter ExtraBold"/>
              </a:rPr>
              <a:t>Dr. Expert Member
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0078700" y="4711700"/>
            <a:ext cx="28702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3C638F"/>
                </a:solidFill>
                <a:latin typeface="Inter Bold"/>
                <a:ea typeface="Inter Bold"/>
                <a:cs typeface="Inter Bold"/>
              </a:rPr>
              <a:t>ROLE/EXPERTISE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9697700" y="5715000"/>
            <a:ext cx="3632200" cy="1079500"/>
          </a:xfrm>
          <a:prstGeom prst="rect">
            <a:avLst/>
          </a:prstGeom>
        </p:spPr>
        <p:txBody>
          <a:bodyPr anchor="t" rtlCol="false" lIns="0" tIns="13547" rIns="0" bIns="0"/>
          <a:lstStyle/>
          <a:p>
            <a:pPr algn="ctr" lvl="0">
              <a:lnSpc>
                <a:spcPct val="107899"/>
              </a:lnSpc>
            </a:pPr>
            <a:r>
              <a:rPr lang="en-US" sz="2133" b="false" i="false" u="none" strike="noStrike">
                <a:solidFill>
                  <a:srgbClr val="142436"/>
                </a:solidFill>
                <a:latin typeface="Inter Light"/>
                <a:ea typeface="Inter Light"/>
                <a:cs typeface="Inter Light"/>
              </a:rPr>
              <a:t>Proven track record in catalyst synthesis &amp; pilot plant operations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9342100" y="5143500"/>
            <a:ext cx="4330700" cy="469900"/>
          </a:xfrm>
          <a:prstGeom prst="rect">
            <a:avLst/>
          </a:prstGeom>
        </p:spPr>
        <p:txBody>
          <a:bodyPr anchor="t" rtlCol="false" lIns="0" tIns="33867" rIns="0" bIns="0"/>
          <a:lstStyle/>
          <a:p>
            <a:pPr algn="ctr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142436"/>
                </a:solidFill>
                <a:latin typeface="Inter ExtraBold"/>
                <a:ea typeface="Inter ExtraBold"/>
                <a:cs typeface="Inter ExtraBold"/>
              </a:rPr>
              <a:t>Dr. Expert Member
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544800" y="10325100"/>
            <a:ext cx="28702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3C638F"/>
                </a:solidFill>
                <a:latin typeface="Inter Bold"/>
                <a:ea typeface="Inter Bold"/>
                <a:cs typeface="Inter Bold"/>
              </a:rPr>
              <a:t>ROLE/EXPERTISE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163800" y="11328400"/>
            <a:ext cx="3632200" cy="1079500"/>
          </a:xfrm>
          <a:prstGeom prst="rect">
            <a:avLst/>
          </a:prstGeom>
        </p:spPr>
        <p:txBody>
          <a:bodyPr anchor="t" rtlCol="false" lIns="0" tIns="13547" rIns="0" bIns="0"/>
          <a:lstStyle/>
          <a:p>
            <a:pPr algn="ctr" lvl="0">
              <a:lnSpc>
                <a:spcPct val="107899"/>
              </a:lnSpc>
            </a:pPr>
            <a:r>
              <a:rPr lang="en-US" sz="2133" b="false" i="false" u="none" strike="noStrike">
                <a:solidFill>
                  <a:srgbClr val="142436"/>
                </a:solidFill>
                <a:latin typeface="Inter Light"/>
                <a:ea typeface="Inter Light"/>
                <a:cs typeface="Inter Light"/>
              </a:rPr>
              <a:t>Proven track record in catalyst synthesis &amp; pilot plant operations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820900" y="10756900"/>
            <a:ext cx="4330700" cy="469900"/>
          </a:xfrm>
          <a:prstGeom prst="rect">
            <a:avLst/>
          </a:prstGeom>
        </p:spPr>
        <p:txBody>
          <a:bodyPr anchor="t" rtlCol="false" lIns="0" tIns="33867" rIns="0" bIns="0"/>
          <a:lstStyle/>
          <a:p>
            <a:pPr algn="ctr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142436"/>
                </a:solidFill>
                <a:latin typeface="Inter ExtraBold"/>
                <a:ea typeface="Inter ExtraBold"/>
                <a:cs typeface="Inter ExtraBold"/>
              </a:rPr>
              <a:t>Dr. Expert Member
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049000" y="10325100"/>
            <a:ext cx="28702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ROLE/EXPERTISE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668000" y="11328400"/>
            <a:ext cx="3632200" cy="1079500"/>
          </a:xfrm>
          <a:prstGeom prst="rect">
            <a:avLst/>
          </a:prstGeom>
        </p:spPr>
        <p:txBody>
          <a:bodyPr anchor="t" rtlCol="false" lIns="0" tIns="13547" rIns="0" bIns="0"/>
          <a:lstStyle/>
          <a:p>
            <a:pPr algn="ctr" lvl="0">
              <a:lnSpc>
                <a:spcPct val="107899"/>
              </a:lnSpc>
            </a:pPr>
            <a:r>
              <a:rPr lang="en-US" sz="2133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Proven track record in catalyst synthesis &amp; pilot plant operations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312400" y="10756900"/>
            <a:ext cx="4330700" cy="469900"/>
          </a:xfrm>
          <a:prstGeom prst="rect">
            <a:avLst/>
          </a:prstGeom>
        </p:spPr>
        <p:txBody>
          <a:bodyPr anchor="t" rtlCol="false" lIns="0" tIns="33867" rIns="0" bIns="0"/>
          <a:lstStyle/>
          <a:p>
            <a:pPr algn="ctr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3885DD"/>
                </a:solidFill>
                <a:latin typeface="Inter ExtraBold"/>
                <a:ea typeface="Inter ExtraBold"/>
                <a:cs typeface="Inter ExtraBold"/>
              </a:rPr>
              <a:t>Dr. Expert Member
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9989800" y="10325100"/>
            <a:ext cx="28702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ROLE/EXPERTISE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9608800" y="11328400"/>
            <a:ext cx="3632200" cy="1079500"/>
          </a:xfrm>
          <a:prstGeom prst="rect">
            <a:avLst/>
          </a:prstGeom>
        </p:spPr>
        <p:txBody>
          <a:bodyPr anchor="t" rtlCol="false" lIns="0" tIns="13547" rIns="0" bIns="0"/>
          <a:lstStyle/>
          <a:p>
            <a:pPr algn="ctr" lvl="0">
              <a:lnSpc>
                <a:spcPct val="107899"/>
              </a:lnSpc>
            </a:pPr>
            <a:r>
              <a:rPr lang="en-US" sz="2133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Proven track record in catalyst synthesis &amp; pilot plant operations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9265900" y="10756900"/>
            <a:ext cx="4330700" cy="469900"/>
          </a:xfrm>
          <a:prstGeom prst="rect">
            <a:avLst/>
          </a:prstGeom>
        </p:spPr>
        <p:txBody>
          <a:bodyPr anchor="t" rtlCol="false" lIns="0" tIns="33867" rIns="0" bIns="0"/>
          <a:lstStyle/>
          <a:p>
            <a:pPr algn="ctr" lvl="0">
              <a:lnSpc>
                <a:spcPct val="99600"/>
              </a:lnSpc>
            </a:pPr>
            <a:r>
              <a:rPr lang="en-US" sz="2666" b="false" i="false" u="none" strike="noStrike">
                <a:solidFill>
                  <a:srgbClr val="3885DD"/>
                </a:solidFill>
                <a:latin typeface="Inter ExtraBold"/>
                <a:ea typeface="Inter ExtraBold"/>
                <a:cs typeface="Inter ExtraBold"/>
              </a:rPr>
              <a:t>Dr. Expert Member
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14554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rot="0">
            <a:off x="-1333500" y="-393700"/>
            <a:ext cx="15443200" cy="14516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36700" y="2082800"/>
            <a:ext cx="11125200" cy="6451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89100" y="9652000"/>
            <a:ext cx="1155700" cy="1155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89100" y="11328400"/>
            <a:ext cx="1155700" cy="1155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670800" y="9652000"/>
            <a:ext cx="1155700" cy="1155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670800" y="11328400"/>
            <a:ext cx="1155700" cy="1155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955800" y="9893300"/>
            <a:ext cx="609600" cy="609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11684000"/>
            <a:ext cx="596900" cy="444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937500" y="9918700"/>
            <a:ext cx="622300" cy="622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013700" y="11569700"/>
            <a:ext cx="482600" cy="6604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4935200" y="2120900"/>
            <a:ext cx="8801100" cy="2349500"/>
          </a:xfrm>
          <a:prstGeom prst="rect">
            <a:avLst/>
          </a:prstGeom>
        </p:spPr>
        <p:txBody>
          <a:bodyPr anchor="t" rtlCol="false" lIns="0" tIns="127000" rIns="0" bIns="0"/>
          <a:lstStyle/>
          <a:p>
            <a:pPr algn="l" lvl="0">
              <a:lnSpc>
                <a:spcPct val="99600"/>
              </a:lnSpc>
            </a:pPr>
            <a:r>
              <a:rPr lang="en-US" sz="13190" b="false" i="false" u="none" strike="noStrike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</a:rPr>
              <a:t>CONTACT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935200" y="10579100"/>
            <a:ext cx="7861300" cy="142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6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Our leadership team is available to discuss investment terms, joint development timelines, and commercial licensing models immediately.
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935200" y="4686300"/>
            <a:ext cx="8432800" cy="295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3885DD"/>
                </a:solidFill>
                <a:latin typeface="Space Grotesk Regular"/>
                <a:ea typeface="Space Grotesk Regular"/>
                <a:cs typeface="Space Grotesk Regular"/>
              </a:rPr>
              <a:t>We are prepared to validate our reproducibility and scalability. Request access to our full technical Data Room or schedule a Pilot Scoping Workshop today.
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87700" y="10287000"/>
            <a:ext cx="2247900" cy="431800"/>
          </a:xfrm>
          <a:prstGeom prst="rect">
            <a:avLst/>
          </a:prstGeom>
        </p:spPr>
        <p:txBody>
          <a:bodyPr anchor="t" rtlCol="false" lIns="0" tIns="15240" rIns="0" bIns="0"/>
          <a:lstStyle/>
          <a:p>
            <a:pPr algn="l" lvl="0">
              <a:lnSpc>
                <a:spcPct val="107899"/>
              </a:lnSpc>
            </a:pPr>
            <a:r>
              <a:rPr lang="en-US" sz="2399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123.456.7890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87700" y="9715500"/>
            <a:ext cx="2273300" cy="5207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3885DD"/>
                </a:solidFill>
                <a:latin typeface="Inter ExtraBold"/>
                <a:ea typeface="Inter ExtraBold"/>
                <a:cs typeface="Inter ExtraBold"/>
              </a:rPr>
              <a:t>Phone
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187700" y="11963400"/>
            <a:ext cx="3365500" cy="431800"/>
          </a:xfrm>
          <a:prstGeom prst="rect">
            <a:avLst/>
          </a:prstGeom>
        </p:spPr>
        <p:txBody>
          <a:bodyPr anchor="t" rtlCol="false" lIns="0" tIns="15240" rIns="0" bIns="0"/>
          <a:lstStyle/>
          <a:p>
            <a:pPr algn="l" lvl="0">
              <a:lnSpc>
                <a:spcPct val="107899"/>
              </a:lnSpc>
            </a:pPr>
            <a:r>
              <a:rPr lang="en-US" sz="2400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yourname@email.com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187700" y="11391900"/>
            <a:ext cx="2273300" cy="5207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3885DD"/>
                </a:solidFill>
                <a:latin typeface="Inter ExtraBold"/>
                <a:ea typeface="Inter ExtraBold"/>
                <a:cs typeface="Inter ExtraBold"/>
              </a:rPr>
              <a:t>Email
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69400" y="10287000"/>
            <a:ext cx="2908300" cy="431800"/>
          </a:xfrm>
          <a:prstGeom prst="rect">
            <a:avLst/>
          </a:prstGeom>
        </p:spPr>
        <p:txBody>
          <a:bodyPr anchor="t" rtlCol="false" lIns="0" tIns="15240" rIns="0" bIns="0"/>
          <a:lstStyle/>
          <a:p>
            <a:pPr algn="l" lvl="0">
              <a:lnSpc>
                <a:spcPct val="107899"/>
              </a:lnSpc>
            </a:pPr>
            <a:r>
              <a:rPr lang="en-US" sz="2400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yoursitehere.com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69400" y="9715500"/>
            <a:ext cx="2273300" cy="5207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3885DD"/>
                </a:solidFill>
                <a:latin typeface="Inter ExtraBold"/>
                <a:ea typeface="Inter ExtraBold"/>
                <a:cs typeface="Inter ExtraBold"/>
              </a:rPr>
              <a:t>Website
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69400" y="11963400"/>
            <a:ext cx="2908300" cy="431800"/>
          </a:xfrm>
          <a:prstGeom prst="rect">
            <a:avLst/>
          </a:prstGeom>
        </p:spPr>
        <p:txBody>
          <a:bodyPr anchor="t" rtlCol="false" lIns="0" tIns="15240" rIns="0" bIns="0"/>
          <a:lstStyle/>
          <a:p>
            <a:pPr algn="l" lvl="0">
              <a:lnSpc>
                <a:spcPct val="107899"/>
              </a:lnSpc>
            </a:pPr>
            <a:r>
              <a:rPr lang="en-US" sz="2400" b="false" i="false" u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</a:rPr>
              <a:t>123 Anywhere City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69400" y="11391900"/>
            <a:ext cx="2273300" cy="520700"/>
          </a:xfrm>
          <a:prstGeom prst="rect">
            <a:avLst/>
          </a:prstGeom>
        </p:spPr>
        <p:txBody>
          <a:bodyPr anchor="t" rtlCol="false" lIns="0" tIns="37253" rIns="0" bIns="0"/>
          <a:lstStyle/>
          <a:p>
            <a:pPr algn="l" lvl="0">
              <a:lnSpc>
                <a:spcPct val="99600"/>
              </a:lnSpc>
            </a:pPr>
            <a:r>
              <a:rPr lang="en-US" sz="2933" b="false" i="false" u="none" strike="noStrike">
                <a:solidFill>
                  <a:srgbClr val="3885DD"/>
                </a:solidFill>
                <a:latin typeface="Inter ExtraBold"/>
                <a:ea typeface="Inter ExtraBold"/>
                <a:cs typeface="Inter ExtraBold"/>
              </a:rPr>
              <a:t>Location
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62000" y="800100"/>
            <a:ext cx="55118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600" b="false" i="false" u="none" strike="noStrike" spc="300">
                <a:solidFill>
                  <a:srgbClr val="3885DD"/>
                </a:solidFill>
                <a:latin typeface="Space Grotesk Light"/>
                <a:ea typeface="Space Grotesk Light"/>
                <a:cs typeface="Space Grotesk Light"/>
              </a:rPr>
              <a:t>YOUR NAME / PRESENTATION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015200" y="800100"/>
            <a:ext cx="36449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600" b="false" i="false" u="none" strike="noStrike" spc="300">
                <a:solidFill>
                  <a:srgbClr val="3885DD"/>
                </a:solidFill>
                <a:latin typeface="Space Grotesk Light"/>
                <a:ea typeface="Space Grotesk Light"/>
                <a:cs typeface="Space Grotesk Light"/>
              </a:rPr>
              <a:t>YOUR COMPANY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